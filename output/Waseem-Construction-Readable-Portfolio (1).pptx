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8020050" cy="5667375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1" d="100"/>
          <a:sy n="101" d="100"/>
        </p:scale>
        <p:origin x="120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7CCA8E4-47EB-4EC1-905A-F388E739B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005" y="2141008"/>
            <a:ext cx="6416040" cy="818621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4BE66046-1F14-4FE5-A00A-B1DD70A16A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3008" y="3117056"/>
            <a:ext cx="5614035" cy="62970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8EDD941-3BAF-4589-94EE-B3DC93923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005" y="2361406"/>
            <a:ext cx="6416040" cy="94456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84ACABA-D311-4964-AA2D-13FF853B2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128" y="440796"/>
            <a:ext cx="7117794" cy="69267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7F2BB1F-E1FD-4A99-B4F1-2AF6DB60B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1128" y="1574271"/>
            <a:ext cx="7117794" cy="352636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037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50877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51378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51880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952381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152882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353383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553885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75438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979CE949-DAE1-41D7-8767-3E270CC70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128" y="440796"/>
            <a:ext cx="7117794" cy="69267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A003D39-45C8-4D6E-BAFB-826D237B3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1128" y="1574271"/>
            <a:ext cx="3308271" cy="352636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037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50877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51378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51880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952381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152882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353383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553885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75438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07003901-F764-40DF-A1F3-52B995540FB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260652" y="1574271"/>
            <a:ext cx="3308271" cy="352636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037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50877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51378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51880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952381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152882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353383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553885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75438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54DCE2E-562A-4EF1-B6FB-246F55EBF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128" y="440796"/>
            <a:ext cx="7117794" cy="69267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B004492-7567-4FDB-BD1A-4EF78FA27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1128" y="1574271"/>
            <a:ext cx="3308271" cy="352636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037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50877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51378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51880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952381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152882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353383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553885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75438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5" Type="http://schemas.openxmlformats.org/officeDocument/2006/relationships/hyperlink" Target="mailto:Sales@wasconarabia.com" TargetMode="External"/><Relationship Id="rId4" Type="http://schemas.openxmlformats.org/officeDocument/2006/relationships/hyperlink" Target="mailto:Wasim@wasconarabia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esign block 0">
            <a:extLst>
              <a:ext uri="{FF2B5EF4-FFF2-40B4-BE49-F238E27FC236}">
                <a16:creationId xmlns:a16="http://schemas.microsoft.com/office/drawing/2014/main" id="{6795812D-C7A1-49D5-B4EF-198F5BAEB4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20050" cy="5667375"/>
          </a:xfrm>
          <a:prstGeom prst="rect">
            <a:avLst/>
          </a:prstGeom>
          <a:solidFill>
            <a:srgbClr val="191A1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5A1F4C8-4444-4B2A-89CA-771BDFE0B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905000" y="952"/>
            <a:ext cx="6115050" cy="5665470"/>
          </a:xfrm>
          <a:prstGeom prst="rect">
            <a:avLst/>
          </a:prstGeom>
        </p:spPr>
      </p:pic>
      <p:sp>
        <p:nvSpPr>
          <p:cNvPr id="3" name="Editable diagonal panel">
            <a:extLst>
              <a:ext uri="{FF2B5EF4-FFF2-40B4-BE49-F238E27FC236}">
                <a16:creationId xmlns:a16="http://schemas.microsoft.com/office/drawing/2014/main" id="{9DB78B3E-B75D-4148-9799-01C5A6D2C9C0}"/>
              </a:ext>
            </a:extLst>
          </p:cNvPr>
          <p:cNvSpPr>
            <a:spLocks noGrp="1"/>
          </p:cNvSpPr>
          <p:nvPr/>
        </p:nvSpPr>
        <p:spPr>
          <a:xfrm>
            <a:off x="1" y="0"/>
            <a:ext cx="5041182" cy="5438775"/>
          </a:xfrm>
          <a:custGeom>
            <a:avLst/>
            <a:gdLst/>
            <a:ahLst/>
            <a:cxnLst/>
            <a:rect l="0" t="0" r="0" b="0"/>
            <a:pathLst>
              <a:path w="4448175" h="5667375">
                <a:moveTo>
                  <a:pt x="0" y="0"/>
                </a:moveTo>
                <a:lnTo>
                  <a:pt x="4448175" y="0"/>
                </a:lnTo>
                <a:lnTo>
                  <a:pt x="2895600" y="5667375"/>
                </a:lnTo>
                <a:lnTo>
                  <a:pt x="0" y="5667375"/>
                </a:lnTo>
                <a:close/>
              </a:path>
            </a:pathLst>
          </a:custGeom>
          <a:solidFill>
            <a:srgbClr val="191A1C"/>
          </a:solidFill>
          <a:ln w="0"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4" name="Editable diagonal panel">
            <a:extLst>
              <a:ext uri="{FF2B5EF4-FFF2-40B4-BE49-F238E27FC236}">
                <a16:creationId xmlns:a16="http://schemas.microsoft.com/office/drawing/2014/main" id="{0414573F-B677-4862-8DE9-39A602A2F081}"/>
              </a:ext>
            </a:extLst>
          </p:cNvPr>
          <p:cNvSpPr>
            <a:spLocks noGrp="1"/>
          </p:cNvSpPr>
          <p:nvPr/>
        </p:nvSpPr>
        <p:spPr>
          <a:xfrm>
            <a:off x="0" y="4657725"/>
            <a:ext cx="3171825" cy="1009650"/>
          </a:xfrm>
          <a:custGeom>
            <a:avLst/>
            <a:gdLst/>
            <a:ahLst/>
            <a:cxnLst/>
            <a:rect l="0" t="0" r="0" b="0"/>
            <a:pathLst>
              <a:path w="3171825" h="1009650">
                <a:moveTo>
                  <a:pt x="0" y="1009650"/>
                </a:moveTo>
                <a:lnTo>
                  <a:pt x="2895600" y="1009650"/>
                </a:lnTo>
                <a:lnTo>
                  <a:pt x="31718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Editable diagonal panel">
            <a:extLst>
              <a:ext uri="{FF2B5EF4-FFF2-40B4-BE49-F238E27FC236}">
                <a16:creationId xmlns:a16="http://schemas.microsoft.com/office/drawing/2014/main" id="{76A62857-7D47-439A-A696-75941AB7F857}"/>
              </a:ext>
            </a:extLst>
          </p:cNvPr>
          <p:cNvSpPr>
            <a:spLocks noGrp="1"/>
          </p:cNvSpPr>
          <p:nvPr/>
        </p:nvSpPr>
        <p:spPr>
          <a:xfrm>
            <a:off x="2867025" y="0"/>
            <a:ext cx="1676400" cy="5667375"/>
          </a:xfrm>
          <a:custGeom>
            <a:avLst/>
            <a:gdLst/>
            <a:ahLst/>
            <a:cxnLst/>
            <a:rect l="0" t="0" r="0" b="0"/>
            <a:pathLst>
              <a:path w="1676400" h="5667375">
                <a:moveTo>
                  <a:pt x="1552575" y="0"/>
                </a:moveTo>
                <a:lnTo>
                  <a:pt x="1676400" y="0"/>
                </a:lnTo>
                <a:lnTo>
                  <a:pt x="123825" y="5667375"/>
                </a:lnTo>
                <a:lnTo>
                  <a:pt x="0" y="5667375"/>
                </a:lnTo>
                <a:close/>
              </a:path>
            </a:pathLst>
          </a:cu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CORPORATE PORTFOLIO">
            <a:extLst>
              <a:ext uri="{FF2B5EF4-FFF2-40B4-BE49-F238E27FC236}">
                <a16:creationId xmlns:a16="http://schemas.microsoft.com/office/drawing/2014/main" id="{0B437C97-4A47-4CF7-977F-CE112DA4F02B}"/>
              </a:ext>
            </a:extLst>
          </p:cNvPr>
          <p:cNvSpPr>
            <a:spLocks noGrp="1"/>
          </p:cNvSpPr>
          <p:nvPr/>
        </p:nvSpPr>
        <p:spPr>
          <a:xfrm>
            <a:off x="314325" y="381001"/>
            <a:ext cx="236942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8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8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825" b="1" dirty="0">
                <a:solidFill>
                  <a:srgbClr val="F7F7F3"/>
                </a:solidFill>
                <a:latin typeface="Arial"/>
                <a:ea typeface="Arial"/>
                <a:cs typeface="Arial"/>
              </a:rPr>
              <a:t>CORPORATE PORTFOLIO</a:t>
            </a:r>
          </a:p>
        </p:txBody>
      </p:sp>
      <p:sp>
        <p:nvSpPr>
          <p:cNvPr id="7" name="Design block 6">
            <a:extLst>
              <a:ext uri="{FF2B5EF4-FFF2-40B4-BE49-F238E27FC236}">
                <a16:creationId xmlns:a16="http://schemas.microsoft.com/office/drawing/2014/main" id="{CF04752E-D4EA-4620-B83D-33FDDC9DAFA5}"/>
              </a:ext>
            </a:extLst>
          </p:cNvPr>
          <p:cNvSpPr>
            <a:spLocks noGrp="1"/>
          </p:cNvSpPr>
          <p:nvPr/>
        </p:nvSpPr>
        <p:spPr>
          <a:xfrm>
            <a:off x="304800" y="676275"/>
            <a:ext cx="504825" cy="190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WASEEM">
            <a:extLst>
              <a:ext uri="{FF2B5EF4-FFF2-40B4-BE49-F238E27FC236}">
                <a16:creationId xmlns:a16="http://schemas.microsoft.com/office/drawing/2014/main" id="{5DA0A338-FC26-4202-A187-DFB0DD658D49}"/>
              </a:ext>
            </a:extLst>
          </p:cNvPr>
          <p:cNvSpPr>
            <a:spLocks noGrp="1"/>
          </p:cNvSpPr>
          <p:nvPr/>
        </p:nvSpPr>
        <p:spPr>
          <a:xfrm>
            <a:off x="285750" y="973836"/>
            <a:ext cx="2409825" cy="7200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9" name="CONSTRUCTION">
            <a:extLst>
              <a:ext uri="{FF2B5EF4-FFF2-40B4-BE49-F238E27FC236}">
                <a16:creationId xmlns:a16="http://schemas.microsoft.com/office/drawing/2014/main" id="{2ABA98DF-EE68-478C-8FFD-86677499EB41}"/>
              </a:ext>
            </a:extLst>
          </p:cNvPr>
          <p:cNvSpPr>
            <a:spLocks noGrp="1"/>
          </p:cNvSpPr>
          <p:nvPr/>
        </p:nvSpPr>
        <p:spPr>
          <a:xfrm>
            <a:off x="314325" y="1604963"/>
            <a:ext cx="2013389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10" name="COMPANY">
            <a:extLst>
              <a:ext uri="{FF2B5EF4-FFF2-40B4-BE49-F238E27FC236}">
                <a16:creationId xmlns:a16="http://schemas.microsoft.com/office/drawing/2014/main" id="{D0CEA665-92CE-464A-A60A-61696AD78264}"/>
              </a:ext>
            </a:extLst>
          </p:cNvPr>
          <p:cNvSpPr>
            <a:spLocks noGrp="1"/>
          </p:cNvSpPr>
          <p:nvPr/>
        </p:nvSpPr>
        <p:spPr>
          <a:xfrm>
            <a:off x="314325" y="1919288"/>
            <a:ext cx="131238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COMPANY</a:t>
            </a:r>
          </a:p>
        </p:txBody>
      </p:sp>
      <p:sp>
        <p:nvSpPr>
          <p:cNvPr id="11" name="LIFTING. MOVING.">
            <a:extLst>
              <a:ext uri="{FF2B5EF4-FFF2-40B4-BE49-F238E27FC236}">
                <a16:creationId xmlns:a16="http://schemas.microsoft.com/office/drawing/2014/main" id="{6D6666E0-6C25-44ED-935B-3D49B6174E8D}"/>
              </a:ext>
            </a:extLst>
          </p:cNvPr>
          <p:cNvSpPr>
            <a:spLocks noGrp="1"/>
          </p:cNvSpPr>
          <p:nvPr/>
        </p:nvSpPr>
        <p:spPr>
          <a:xfrm>
            <a:off x="323850" y="2762250"/>
            <a:ext cx="2762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LIFTING. MOVING.</a:t>
            </a:r>
          </a:p>
          <a:p>
            <a:pPr algn="l">
              <a:buNone/>
              <a:defRPr sz="13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BUILDING POSSIBILITIES.</a:t>
            </a:r>
          </a:p>
        </p:txBody>
      </p:sp>
      <p:sp>
        <p:nvSpPr>
          <p:cNvPr id="12" name="BUILDING POSSIBILITIES.">
            <a:extLst>
              <a:ext uri="{FF2B5EF4-FFF2-40B4-BE49-F238E27FC236}">
                <a16:creationId xmlns:a16="http://schemas.microsoft.com/office/drawing/2014/main" id="{166A5D3A-934A-479E-B170-62E32CB62533}"/>
              </a:ext>
            </a:extLst>
          </p:cNvPr>
          <p:cNvSpPr>
            <a:spLocks noGrp="1"/>
          </p:cNvSpPr>
          <p:nvPr/>
        </p:nvSpPr>
        <p:spPr>
          <a:xfrm>
            <a:off x="323850" y="2996565"/>
            <a:ext cx="235989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13" name="Equipment and operations">
            <a:extLst>
              <a:ext uri="{FF2B5EF4-FFF2-40B4-BE49-F238E27FC236}">
                <a16:creationId xmlns:a16="http://schemas.microsoft.com/office/drawing/2014/main" id="{F0883CEE-DE73-444F-A65B-A43E8B86A0DE}"/>
              </a:ext>
            </a:extLst>
          </p:cNvPr>
          <p:cNvSpPr>
            <a:spLocks noGrp="1"/>
          </p:cNvSpPr>
          <p:nvPr/>
        </p:nvSpPr>
        <p:spPr>
          <a:xfrm>
            <a:off x="323850" y="3476625"/>
            <a:ext cx="27622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Equipment and operations</a:t>
            </a:r>
          </a:p>
          <a:p>
            <a: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for the work ahead.</a:t>
            </a:r>
          </a:p>
        </p:txBody>
      </p:sp>
      <p:sp>
        <p:nvSpPr>
          <p:cNvPr id="14" name="for the work ahead.">
            <a:extLst>
              <a:ext uri="{FF2B5EF4-FFF2-40B4-BE49-F238E27FC236}">
                <a16:creationId xmlns:a16="http://schemas.microsoft.com/office/drawing/2014/main" id="{FEACD594-E267-4D50-8BE1-E1EA3F811374}"/>
              </a:ext>
            </a:extLst>
          </p:cNvPr>
          <p:cNvSpPr>
            <a:spLocks noGrp="1"/>
          </p:cNvSpPr>
          <p:nvPr/>
        </p:nvSpPr>
        <p:spPr>
          <a:xfrm>
            <a:off x="323850" y="3631692"/>
            <a:ext cx="1617402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15" name="WORK IN FOCUS.">
            <a:extLst>
              <a:ext uri="{FF2B5EF4-FFF2-40B4-BE49-F238E27FC236}">
                <a16:creationId xmlns:a16="http://schemas.microsoft.com/office/drawing/2014/main" id="{CE3872F1-B4B2-4B3F-A410-90A3E8A24704}"/>
              </a:ext>
            </a:extLst>
          </p:cNvPr>
          <p:cNvSpPr>
            <a:spLocks noGrp="1"/>
          </p:cNvSpPr>
          <p:nvPr/>
        </p:nvSpPr>
        <p:spPr>
          <a:xfrm>
            <a:off x="314325" y="4940808"/>
            <a:ext cx="1829429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WORK IN FOCUS.</a:t>
            </a:r>
          </a:p>
        </p:txBody>
      </p:sp>
      <p:sp>
        <p:nvSpPr>
          <p:cNvPr id="16" name="COMPANY PROFILE">
            <a:extLst>
              <a:ext uri="{FF2B5EF4-FFF2-40B4-BE49-F238E27FC236}">
                <a16:creationId xmlns:a16="http://schemas.microsoft.com/office/drawing/2014/main" id="{E2494C81-F13E-4964-848D-01FE9F31D448}"/>
              </a:ext>
            </a:extLst>
          </p:cNvPr>
          <p:cNvSpPr>
            <a:spLocks noGrp="1"/>
          </p:cNvSpPr>
          <p:nvPr/>
        </p:nvSpPr>
        <p:spPr>
          <a:xfrm>
            <a:off x="314325" y="5233226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17" name="Design block 16">
            <a:extLst>
              <a:ext uri="{FF2B5EF4-FFF2-40B4-BE49-F238E27FC236}">
                <a16:creationId xmlns:a16="http://schemas.microsoft.com/office/drawing/2014/main" id="{4DBC4C79-157C-4D9D-B597-F1CD818AD45F}"/>
              </a:ext>
            </a:extLst>
          </p:cNvPr>
          <p:cNvSpPr>
            <a:spLocks noGrp="1"/>
          </p:cNvSpPr>
          <p:nvPr/>
        </p:nvSpPr>
        <p:spPr>
          <a:xfrm>
            <a:off x="5505450" y="5029200"/>
            <a:ext cx="2209800" cy="409575"/>
          </a:xfrm>
          <a:prstGeom prst="rect">
            <a:avLst/>
          </a:prstGeom>
          <a:solidFill>
            <a:srgbClr val="191A1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LIFTING / HANDLING / TRANSPORT">
            <a:extLst>
              <a:ext uri="{FF2B5EF4-FFF2-40B4-BE49-F238E27FC236}">
                <a16:creationId xmlns:a16="http://schemas.microsoft.com/office/drawing/2014/main" id="{1D39DEF7-7BD1-44E5-B630-71B16D3BF853}"/>
              </a:ext>
            </a:extLst>
          </p:cNvPr>
          <p:cNvSpPr>
            <a:spLocks noGrp="1"/>
          </p:cNvSpPr>
          <p:nvPr/>
        </p:nvSpPr>
        <p:spPr>
          <a:xfrm>
            <a:off x="5638800" y="5143500"/>
            <a:ext cx="20764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8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8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LIFTING / HANDLING / TRANSPORT</a:t>
            </a:r>
          </a:p>
        </p:txBody>
      </p:sp>
    </p:spTree>
    <p:extLst>
      <p:ext uri="{BB962C8B-B14F-4D97-AF65-F5344CB8AC3E}">
        <p14:creationId xmlns:p14="http://schemas.microsoft.com/office/powerpoint/2010/main" val="1975118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esign block 0">
            <a:extLst>
              <a:ext uri="{FF2B5EF4-FFF2-40B4-BE49-F238E27FC236}">
                <a16:creationId xmlns:a16="http://schemas.microsoft.com/office/drawing/2014/main" id="{9C0CE620-16D1-4E9D-BD45-7BA18B023FA0}"/>
              </a:ext>
            </a:extLst>
          </p:cNvPr>
          <p:cNvSpPr>
            <a:spLocks noGrp="1"/>
          </p:cNvSpPr>
          <p:nvPr/>
        </p:nvSpPr>
        <p:spPr>
          <a:xfrm>
            <a:off x="0" y="13854"/>
            <a:ext cx="8020050" cy="5667375"/>
          </a:xfrm>
          <a:prstGeom prst="rect">
            <a:avLst/>
          </a:prstGeom>
          <a:solidFill>
            <a:srgbClr val="F7F6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Design block 1">
            <a:extLst>
              <a:ext uri="{FF2B5EF4-FFF2-40B4-BE49-F238E27FC236}">
                <a16:creationId xmlns:a16="http://schemas.microsoft.com/office/drawing/2014/main" id="{53B99C0B-AC73-4F05-9F15-58B04A35828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762250" cy="5667375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01 / COMPANY OVERVIEW">
            <a:extLst>
              <a:ext uri="{FF2B5EF4-FFF2-40B4-BE49-F238E27FC236}">
                <a16:creationId xmlns:a16="http://schemas.microsoft.com/office/drawing/2014/main" id="{0BBC7C04-A5D1-4956-903E-EBDD4BDE9B24}"/>
              </a:ext>
            </a:extLst>
          </p:cNvPr>
          <p:cNvSpPr>
            <a:spLocks noGrp="1"/>
          </p:cNvSpPr>
          <p:nvPr/>
        </p:nvSpPr>
        <p:spPr>
          <a:xfrm>
            <a:off x="304800" y="356997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01 / COMPANY OVERVIEW</a:t>
            </a:r>
          </a:p>
        </p:txBody>
      </p:sp>
      <p:sp>
        <p:nvSpPr>
          <p:cNvPr id="4" name="WORK BEGINS">
            <a:extLst>
              <a:ext uri="{FF2B5EF4-FFF2-40B4-BE49-F238E27FC236}">
                <a16:creationId xmlns:a16="http://schemas.microsoft.com/office/drawing/2014/main" id="{D5718316-D81C-47A1-ADB9-91EDD540D94C}"/>
              </a:ext>
            </a:extLst>
          </p:cNvPr>
          <p:cNvSpPr>
            <a:spLocks noGrp="1"/>
          </p:cNvSpPr>
          <p:nvPr/>
        </p:nvSpPr>
        <p:spPr>
          <a:xfrm>
            <a:off x="285750" y="1016699"/>
            <a:ext cx="2105569" cy="3867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WORK BEGINS</a:t>
            </a:r>
          </a:p>
        </p:txBody>
      </p:sp>
      <p:sp>
        <p:nvSpPr>
          <p:cNvPr id="5" name="WITH A CLEAR">
            <a:extLst>
              <a:ext uri="{FF2B5EF4-FFF2-40B4-BE49-F238E27FC236}">
                <a16:creationId xmlns:a16="http://schemas.microsoft.com/office/drawing/2014/main" id="{BE3A876A-F341-4893-BFFE-5B4AF9BA40CB}"/>
              </a:ext>
            </a:extLst>
          </p:cNvPr>
          <p:cNvSpPr>
            <a:spLocks noGrp="1"/>
          </p:cNvSpPr>
          <p:nvPr/>
        </p:nvSpPr>
        <p:spPr>
          <a:xfrm>
            <a:off x="285750" y="1369124"/>
            <a:ext cx="2105299" cy="3867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WITH A CLEAR</a:t>
            </a:r>
          </a:p>
        </p:txBody>
      </p:sp>
      <p:sp>
        <p:nvSpPr>
          <p:cNvPr id="6" name="DIRECTION.">
            <a:extLst>
              <a:ext uri="{FF2B5EF4-FFF2-40B4-BE49-F238E27FC236}">
                <a16:creationId xmlns:a16="http://schemas.microsoft.com/office/drawing/2014/main" id="{9380A070-EEB8-4549-B5E3-2488181706B6}"/>
              </a:ext>
            </a:extLst>
          </p:cNvPr>
          <p:cNvSpPr>
            <a:spLocks noGrp="1"/>
          </p:cNvSpPr>
          <p:nvPr/>
        </p:nvSpPr>
        <p:spPr>
          <a:xfrm>
            <a:off x="285750" y="1721549"/>
            <a:ext cx="1691232" cy="3867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DIRECTION.</a:t>
            </a:r>
          </a:p>
        </p:txBody>
      </p:sp>
      <p:sp>
        <p:nvSpPr>
          <p:cNvPr id="7" name="Design block 6">
            <a:extLst>
              <a:ext uri="{FF2B5EF4-FFF2-40B4-BE49-F238E27FC236}">
                <a16:creationId xmlns:a16="http://schemas.microsoft.com/office/drawing/2014/main" id="{0FF8457C-6AD2-4793-9E29-EB8C30FB4B11}"/>
              </a:ext>
            </a:extLst>
          </p:cNvPr>
          <p:cNvSpPr>
            <a:spLocks noGrp="1"/>
          </p:cNvSpPr>
          <p:nvPr/>
        </p:nvSpPr>
        <p:spPr>
          <a:xfrm>
            <a:off x="314325" y="2305050"/>
            <a:ext cx="466725" cy="19050"/>
          </a:xfrm>
          <a:prstGeom prst="rect">
            <a:avLst/>
          </a:prstGeom>
          <a:solidFill>
            <a:srgbClr val="191A1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Lifting. Handling. Transport.">
            <a:extLst>
              <a:ext uri="{FF2B5EF4-FFF2-40B4-BE49-F238E27FC236}">
                <a16:creationId xmlns:a16="http://schemas.microsoft.com/office/drawing/2014/main" id="{EBA3EFA4-6F59-4721-8F4C-FA814E485A22}"/>
              </a:ext>
            </a:extLst>
          </p:cNvPr>
          <p:cNvSpPr>
            <a:spLocks noGrp="1"/>
          </p:cNvSpPr>
          <p:nvPr/>
        </p:nvSpPr>
        <p:spPr>
          <a:xfrm>
            <a:off x="314325" y="2552891"/>
            <a:ext cx="2084366" cy="2266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Lifting. Handling. Transport.</a:t>
            </a:r>
          </a:p>
        </p:txBody>
      </p:sp>
      <p:sp>
        <p:nvSpPr>
          <p:cNvPr id="9" name="Site access.">
            <a:extLst>
              <a:ext uri="{FF2B5EF4-FFF2-40B4-BE49-F238E27FC236}">
                <a16:creationId xmlns:a16="http://schemas.microsoft.com/office/drawing/2014/main" id="{2B73D6DA-21BD-47EF-AF32-6DE6FEF9EDB1}"/>
              </a:ext>
            </a:extLst>
          </p:cNvPr>
          <p:cNvSpPr>
            <a:spLocks noGrp="1"/>
          </p:cNvSpPr>
          <p:nvPr/>
        </p:nvSpPr>
        <p:spPr>
          <a:xfrm>
            <a:off x="314325" y="2795778"/>
            <a:ext cx="968206" cy="2266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Site access.</a:t>
            </a:r>
          </a:p>
        </p:txBody>
      </p:sp>
      <p:sp>
        <p:nvSpPr>
          <p:cNvPr id="10" name="A focused introduction to Waseem">
            <a:extLst>
              <a:ext uri="{FF2B5EF4-FFF2-40B4-BE49-F238E27FC236}">
                <a16:creationId xmlns:a16="http://schemas.microsoft.com/office/drawing/2014/main" id="{55684786-2BE0-4F4E-8D44-C30910B171B0}"/>
              </a:ext>
            </a:extLst>
          </p:cNvPr>
          <p:cNvSpPr>
            <a:spLocks noGrp="1"/>
          </p:cNvSpPr>
          <p:nvPr/>
        </p:nvSpPr>
        <p:spPr>
          <a:xfrm>
            <a:off x="314325" y="3562350"/>
            <a:ext cx="2133600" cy="1381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191A1C"/>
                </a:solidFill>
                <a:latin typeface="Arial"/>
                <a:ea typeface="Arial"/>
                <a:cs typeface="Arial"/>
              </a:rPr>
              <a:t>An introduction to Waseem Construction Company and the equipment featured in this portfolio.</a:t>
            </a:r>
          </a:p>
        </p:txBody>
      </p:sp>
      <p:sp>
        <p:nvSpPr>
          <p:cNvPr id="11" name="Construction Company and the equipment">
            <a:extLst>
              <a:ext uri="{FF2B5EF4-FFF2-40B4-BE49-F238E27FC236}">
                <a16:creationId xmlns:a16="http://schemas.microsoft.com/office/drawing/2014/main" id="{E3D77A68-80E6-4441-87DF-79BF8FF10295}"/>
              </a:ext>
            </a:extLst>
          </p:cNvPr>
          <p:cNvSpPr>
            <a:spLocks noGrp="1"/>
          </p:cNvSpPr>
          <p:nvPr/>
        </p:nvSpPr>
        <p:spPr>
          <a:xfrm>
            <a:off x="314325" y="3801999"/>
            <a:ext cx="2881293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12" name="activities featured in this portfolio.">
            <a:extLst>
              <a:ext uri="{FF2B5EF4-FFF2-40B4-BE49-F238E27FC236}">
                <a16:creationId xmlns:a16="http://schemas.microsoft.com/office/drawing/2014/main" id="{742D1891-6D1E-4188-9F7D-17C231DCF095}"/>
              </a:ext>
            </a:extLst>
          </p:cNvPr>
          <p:cNvSpPr>
            <a:spLocks noGrp="1"/>
          </p:cNvSpPr>
          <p:nvPr/>
        </p:nvSpPr>
        <p:spPr>
          <a:xfrm>
            <a:off x="314325" y="3959162"/>
            <a:ext cx="2302154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344AEDD-96A7-48C2-BAB0-F64DE4DA6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000375" y="352860"/>
            <a:ext cx="4714875" cy="2561355"/>
          </a:xfrm>
          <a:prstGeom prst="rect">
            <a:avLst/>
          </a:prstGeom>
        </p:spPr>
      </p:pic>
      <p:sp>
        <p:nvSpPr>
          <p:cNvPr id="14" name="The work behind the movement.">
            <a:extLst>
              <a:ext uri="{FF2B5EF4-FFF2-40B4-BE49-F238E27FC236}">
                <a16:creationId xmlns:a16="http://schemas.microsoft.com/office/drawing/2014/main" id="{D4AEA22A-5F4F-4176-8BA3-5B486B7352DE}"/>
              </a:ext>
            </a:extLst>
          </p:cNvPr>
          <p:cNvSpPr>
            <a:spLocks noGrp="1"/>
          </p:cNvSpPr>
          <p:nvPr/>
        </p:nvSpPr>
        <p:spPr>
          <a:xfrm>
            <a:off x="3000375" y="3081338"/>
            <a:ext cx="3733749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The work behind the movement.</a:t>
            </a:r>
          </a:p>
        </p:txBody>
      </p:sp>
      <p:sp>
        <p:nvSpPr>
          <p:cNvPr id="15" name="Waseem Construction Company brings lifting, material handlin">
            <a:extLst>
              <a:ext uri="{FF2B5EF4-FFF2-40B4-BE49-F238E27FC236}">
                <a16:creationId xmlns:a16="http://schemas.microsoft.com/office/drawing/2014/main" id="{F17FA9BE-BED1-4CE7-803F-C195F97D9B1C}"/>
              </a:ext>
            </a:extLst>
          </p:cNvPr>
          <p:cNvSpPr>
            <a:spLocks noGrp="1"/>
          </p:cNvSpPr>
          <p:nvPr/>
        </p:nvSpPr>
        <p:spPr>
          <a:xfrm>
            <a:off x="3000375" y="3562350"/>
            <a:ext cx="4714875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>Our portfolio covers lifting, material handling, heavy transport and site equipment, from industrial yards to waterfront cargo areas.</a:t>
            </a:r>
          </a:p>
        </p:txBody>
      </p:sp>
      <p:sp>
        <p:nvSpPr>
          <p:cNvPr id="16" name="equipment into one visual portfolio. The photographs show a ">
            <a:extLst>
              <a:ext uri="{FF2B5EF4-FFF2-40B4-BE49-F238E27FC236}">
                <a16:creationId xmlns:a16="http://schemas.microsoft.com/office/drawing/2014/main" id="{F3218176-B526-44DF-B84D-CB7FC4AD3302}"/>
              </a:ext>
            </a:extLst>
          </p:cNvPr>
          <p:cNvSpPr>
            <a:spLocks noGrp="1"/>
          </p:cNvSpPr>
          <p:nvPr/>
        </p:nvSpPr>
        <p:spPr>
          <a:xfrm>
            <a:off x="3000375" y="3706749"/>
            <a:ext cx="47148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17" name="from industrial yards to waterfront cargo areas.">
            <a:extLst>
              <a:ext uri="{FF2B5EF4-FFF2-40B4-BE49-F238E27FC236}">
                <a16:creationId xmlns:a16="http://schemas.microsoft.com/office/drawing/2014/main" id="{53991641-8AB1-4C87-8D36-942DADFA475D}"/>
              </a:ext>
            </a:extLst>
          </p:cNvPr>
          <p:cNvSpPr>
            <a:spLocks noGrp="1"/>
          </p:cNvSpPr>
          <p:nvPr/>
        </p:nvSpPr>
        <p:spPr>
          <a:xfrm>
            <a:off x="3000375" y="3863912"/>
            <a:ext cx="3166129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18" name="Use this portfolio as a starting point for discussing a spec">
            <a:extLst>
              <a:ext uri="{FF2B5EF4-FFF2-40B4-BE49-F238E27FC236}">
                <a16:creationId xmlns:a16="http://schemas.microsoft.com/office/drawing/2014/main" id="{7C31821D-3E63-4EC1-BD8B-ADB77286FEB5}"/>
              </a:ext>
            </a:extLst>
          </p:cNvPr>
          <p:cNvSpPr>
            <a:spLocks noGrp="1"/>
          </p:cNvSpPr>
          <p:nvPr/>
        </p:nvSpPr>
        <p:spPr>
          <a:xfrm>
            <a:off x="3000375" y="4187762"/>
            <a:ext cx="4400551" cy="73062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626469"/>
                </a:solidFill>
                <a:latin typeface="Arial"/>
                <a:ea typeface="Arial"/>
                <a:cs typeface="Arial"/>
              </a:rPr>
              <a:t>Equipment availability, technical requirements, commercial terms and scope are confirmed for each enquiry.</a:t>
            </a:r>
          </a:p>
        </p:txBody>
      </p:sp>
      <p:sp>
        <p:nvSpPr>
          <p:cNvPr id="19" name="technical requirements, commercial terms and the final scope">
            <a:extLst>
              <a:ext uri="{FF2B5EF4-FFF2-40B4-BE49-F238E27FC236}">
                <a16:creationId xmlns:a16="http://schemas.microsoft.com/office/drawing/2014/main" id="{C295B776-C975-46E1-9A65-FA7FDB30A071}"/>
              </a:ext>
            </a:extLst>
          </p:cNvPr>
          <p:cNvSpPr>
            <a:spLocks noGrp="1"/>
          </p:cNvSpPr>
          <p:nvPr/>
        </p:nvSpPr>
        <p:spPr>
          <a:xfrm>
            <a:off x="3000375" y="4516374"/>
            <a:ext cx="47148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20" name="enquiry.">
            <a:extLst>
              <a:ext uri="{FF2B5EF4-FFF2-40B4-BE49-F238E27FC236}">
                <a16:creationId xmlns:a16="http://schemas.microsoft.com/office/drawing/2014/main" id="{A3AB1E20-A742-40EC-B97C-B4A8AD2B80BF}"/>
              </a:ext>
            </a:extLst>
          </p:cNvPr>
          <p:cNvSpPr>
            <a:spLocks noGrp="1"/>
          </p:cNvSpPr>
          <p:nvPr/>
        </p:nvSpPr>
        <p:spPr>
          <a:xfrm>
            <a:off x="3000375" y="4673537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21" name="WASEEM CONSTRUCTION COMPANY">
            <a:extLst>
              <a:ext uri="{FF2B5EF4-FFF2-40B4-BE49-F238E27FC236}">
                <a16:creationId xmlns:a16="http://schemas.microsoft.com/office/drawing/2014/main" id="{34F7DDE0-4882-436E-9369-7D20F0E0DC99}"/>
              </a:ext>
            </a:extLst>
          </p:cNvPr>
          <p:cNvSpPr>
            <a:spLocks noGrp="1"/>
          </p:cNvSpPr>
          <p:nvPr/>
        </p:nvSpPr>
        <p:spPr>
          <a:xfrm>
            <a:off x="3000375" y="5318951"/>
            <a:ext cx="409575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0" dirty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22" name="Design block 21">
            <a:extLst>
              <a:ext uri="{FF2B5EF4-FFF2-40B4-BE49-F238E27FC236}">
                <a16:creationId xmlns:a16="http://schemas.microsoft.com/office/drawing/2014/main" id="{3094684B-0642-4C43-92A7-27DFCEED82D4}"/>
              </a:ext>
            </a:extLst>
          </p:cNvPr>
          <p:cNvSpPr>
            <a:spLocks noGrp="1"/>
          </p:cNvSpPr>
          <p:nvPr/>
        </p:nvSpPr>
        <p:spPr>
          <a:xfrm>
            <a:off x="7400925" y="5276850"/>
            <a:ext cx="314325" cy="2095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02">
            <a:extLst>
              <a:ext uri="{FF2B5EF4-FFF2-40B4-BE49-F238E27FC236}">
                <a16:creationId xmlns:a16="http://schemas.microsoft.com/office/drawing/2014/main" id="{99DF581C-97EB-4BA8-B2A2-409A5B6DB04B}"/>
              </a:ext>
            </a:extLst>
          </p:cNvPr>
          <p:cNvSpPr>
            <a:spLocks noGrp="1"/>
          </p:cNvSpPr>
          <p:nvPr/>
        </p:nvSpPr>
        <p:spPr>
          <a:xfrm>
            <a:off x="7496175" y="5348097"/>
            <a:ext cx="219075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78093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Design block 0">
            <a:extLst>
              <a:ext uri="{FF2B5EF4-FFF2-40B4-BE49-F238E27FC236}">
                <a16:creationId xmlns:a16="http://schemas.microsoft.com/office/drawing/2014/main" id="{85D08907-1D39-4212-A321-860C9130C2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20050" cy="5667375"/>
          </a:xfrm>
          <a:prstGeom prst="rect">
            <a:avLst/>
          </a:prstGeom>
          <a:solidFill>
            <a:srgbClr val="F7F6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Design block 1">
            <a:extLst>
              <a:ext uri="{FF2B5EF4-FFF2-40B4-BE49-F238E27FC236}">
                <a16:creationId xmlns:a16="http://schemas.microsoft.com/office/drawing/2014/main" id="{82D37AA5-62CE-4E40-9453-3E4B497349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20050" cy="1600200"/>
          </a:xfrm>
          <a:prstGeom prst="rect">
            <a:avLst/>
          </a:prstGeom>
          <a:solidFill>
            <a:srgbClr val="191A1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Editable diagonal panel">
            <a:extLst>
              <a:ext uri="{FF2B5EF4-FFF2-40B4-BE49-F238E27FC236}">
                <a16:creationId xmlns:a16="http://schemas.microsoft.com/office/drawing/2014/main" id="{6A1B139C-8B56-4AAE-816B-E6D71141078A}"/>
              </a:ext>
            </a:extLst>
          </p:cNvPr>
          <p:cNvSpPr>
            <a:spLocks noGrp="1"/>
          </p:cNvSpPr>
          <p:nvPr/>
        </p:nvSpPr>
        <p:spPr>
          <a:xfrm>
            <a:off x="6048375" y="0"/>
            <a:ext cx="1971675" cy="1600200"/>
          </a:xfrm>
          <a:custGeom>
            <a:avLst/>
            <a:gdLst/>
            <a:ahLst/>
            <a:cxnLst/>
            <a:rect l="0" t="0" r="0" b="0"/>
            <a:pathLst>
              <a:path w="1971675" h="1600200">
                <a:moveTo>
                  <a:pt x="0" y="1600200"/>
                </a:moveTo>
                <a:lnTo>
                  <a:pt x="1971675" y="1600200"/>
                </a:lnTo>
                <a:lnTo>
                  <a:pt x="1971675" y="0"/>
                </a:lnTo>
                <a:lnTo>
                  <a:pt x="657225" y="0"/>
                </a:lnTo>
                <a:close/>
              </a:path>
            </a:pathLst>
          </a:cu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WASEEM">
            <a:extLst>
              <a:ext uri="{FF2B5EF4-FFF2-40B4-BE49-F238E27FC236}">
                <a16:creationId xmlns:a16="http://schemas.microsoft.com/office/drawing/2014/main" id="{B8140993-8378-4E67-9C81-2DF307F588F2}"/>
              </a:ext>
            </a:extLst>
          </p:cNvPr>
          <p:cNvSpPr>
            <a:spLocks noGrp="1"/>
          </p:cNvSpPr>
          <p:nvPr/>
        </p:nvSpPr>
        <p:spPr>
          <a:xfrm>
            <a:off x="304800" y="245555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5" name="CONSTRUCTION COMPANY">
            <a:extLst>
              <a:ext uri="{FF2B5EF4-FFF2-40B4-BE49-F238E27FC236}">
                <a16:creationId xmlns:a16="http://schemas.microsoft.com/office/drawing/2014/main" id="{0EDBA545-5C0B-408E-B3F5-E0D5A4FD549C}"/>
              </a:ext>
            </a:extLst>
          </p:cNvPr>
          <p:cNvSpPr>
            <a:spLocks noGrp="1"/>
          </p:cNvSpPr>
          <p:nvPr/>
        </p:nvSpPr>
        <p:spPr>
          <a:xfrm>
            <a:off x="314325" y="455581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6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6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6" name="02 / AREAS OF WORK">
            <a:extLst>
              <a:ext uri="{FF2B5EF4-FFF2-40B4-BE49-F238E27FC236}">
                <a16:creationId xmlns:a16="http://schemas.microsoft.com/office/drawing/2014/main" id="{C570C874-DC08-46E7-BED2-220AAF0FC307}"/>
              </a:ext>
            </a:extLst>
          </p:cNvPr>
          <p:cNvSpPr>
            <a:spLocks noGrp="1"/>
          </p:cNvSpPr>
          <p:nvPr/>
        </p:nvSpPr>
        <p:spPr>
          <a:xfrm>
            <a:off x="314325" y="685800"/>
            <a:ext cx="3619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02 / AREAS OF WORK</a:t>
            </a:r>
          </a:p>
        </p:txBody>
      </p:sp>
      <p:sp>
        <p:nvSpPr>
          <p:cNvPr id="7" name="EQUIPMENT THAT">
            <a:extLst>
              <a:ext uri="{FF2B5EF4-FFF2-40B4-BE49-F238E27FC236}">
                <a16:creationId xmlns:a16="http://schemas.microsoft.com/office/drawing/2014/main" id="{E2A7AD73-A330-4824-A16A-CCBF917FBE50}"/>
              </a:ext>
            </a:extLst>
          </p:cNvPr>
          <p:cNvSpPr>
            <a:spLocks noGrp="1"/>
          </p:cNvSpPr>
          <p:nvPr/>
        </p:nvSpPr>
        <p:spPr>
          <a:xfrm>
            <a:off x="295275" y="902970"/>
            <a:ext cx="2635188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EQUIPMENT THAT</a:t>
            </a:r>
          </a:p>
        </p:txBody>
      </p:sp>
      <p:sp>
        <p:nvSpPr>
          <p:cNvPr id="8" name="KEEPS WORK MOVING.">
            <a:extLst>
              <a:ext uri="{FF2B5EF4-FFF2-40B4-BE49-F238E27FC236}">
                <a16:creationId xmlns:a16="http://schemas.microsoft.com/office/drawing/2014/main" id="{AF0B672F-D071-4FB5-B73B-4740711927FA}"/>
              </a:ext>
            </a:extLst>
          </p:cNvPr>
          <p:cNvSpPr>
            <a:spLocks noGrp="1"/>
          </p:cNvSpPr>
          <p:nvPr/>
        </p:nvSpPr>
        <p:spPr>
          <a:xfrm>
            <a:off x="295275" y="1226820"/>
            <a:ext cx="3365748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KEEPS WORK MOVING.</a:t>
            </a:r>
          </a:p>
        </p:txBody>
      </p:sp>
      <p:sp>
        <p:nvSpPr>
          <p:cNvPr id="9" name="04">
            <a:extLst>
              <a:ext uri="{FF2B5EF4-FFF2-40B4-BE49-F238E27FC236}">
                <a16:creationId xmlns:a16="http://schemas.microsoft.com/office/drawing/2014/main" id="{BF4A904D-A7DC-44AA-9040-9183B54AA423}"/>
              </a:ext>
            </a:extLst>
          </p:cNvPr>
          <p:cNvSpPr>
            <a:spLocks noGrp="1"/>
          </p:cNvSpPr>
          <p:nvPr/>
        </p:nvSpPr>
        <p:spPr>
          <a:xfrm>
            <a:off x="6896100" y="477965"/>
            <a:ext cx="656769" cy="7067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FOCUS AREAS">
            <a:extLst>
              <a:ext uri="{FF2B5EF4-FFF2-40B4-BE49-F238E27FC236}">
                <a16:creationId xmlns:a16="http://schemas.microsoft.com/office/drawing/2014/main" id="{A6180797-7E93-483E-9A27-42628E7F82C5}"/>
              </a:ext>
            </a:extLst>
          </p:cNvPr>
          <p:cNvSpPr>
            <a:spLocks noGrp="1"/>
          </p:cNvSpPr>
          <p:nvPr/>
        </p:nvSpPr>
        <p:spPr>
          <a:xfrm>
            <a:off x="6696075" y="1219200"/>
            <a:ext cx="10477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8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8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8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8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8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8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8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8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8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FOCUS AREAS</a:t>
            </a:r>
          </a:p>
        </p:txBody>
      </p:sp>
      <p:sp>
        <p:nvSpPr>
          <p:cNvPr id="11" name="Proposed service categories below are based on the supplied ">
            <a:extLst>
              <a:ext uri="{FF2B5EF4-FFF2-40B4-BE49-F238E27FC236}">
                <a16:creationId xmlns:a16="http://schemas.microsoft.com/office/drawing/2014/main" id="{4186D446-9F6B-4765-9710-1BE11AAF7335}"/>
              </a:ext>
            </a:extLst>
          </p:cNvPr>
          <p:cNvSpPr>
            <a:spLocks noGrp="1"/>
          </p:cNvSpPr>
          <p:nvPr/>
        </p:nvSpPr>
        <p:spPr>
          <a:xfrm>
            <a:off x="314325" y="1724025"/>
            <a:ext cx="73914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05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>Proposed service categories based on supplied photographs. Company confirmation required.</a:t>
            </a:r>
          </a:p>
        </p:txBody>
      </p:sp>
      <p:sp>
        <p:nvSpPr>
          <p:cNvPr id="12" name="Design block 11">
            <a:extLst>
              <a:ext uri="{FF2B5EF4-FFF2-40B4-BE49-F238E27FC236}">
                <a16:creationId xmlns:a16="http://schemas.microsoft.com/office/drawing/2014/main" id="{206C9605-5CE8-486A-9786-0928BB38280F}"/>
              </a:ext>
            </a:extLst>
          </p:cNvPr>
          <p:cNvSpPr>
            <a:spLocks noGrp="1"/>
          </p:cNvSpPr>
          <p:nvPr/>
        </p:nvSpPr>
        <p:spPr>
          <a:xfrm>
            <a:off x="304800" y="2095500"/>
            <a:ext cx="1771650" cy="31051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56EC27F-3582-4E24-BB20-077B4C78C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04800" y="2212181"/>
            <a:ext cx="1771650" cy="1328738"/>
          </a:xfrm>
          <a:prstGeom prst="rect">
            <a:avLst/>
          </a:prstGeom>
        </p:spPr>
      </p:pic>
      <p:sp>
        <p:nvSpPr>
          <p:cNvPr id="14" name="Design block 13">
            <a:extLst>
              <a:ext uri="{FF2B5EF4-FFF2-40B4-BE49-F238E27FC236}">
                <a16:creationId xmlns:a16="http://schemas.microsoft.com/office/drawing/2014/main" id="{FF67716E-728B-4D0D-A6B8-81375273A566}"/>
              </a:ext>
            </a:extLst>
          </p:cNvPr>
          <p:cNvSpPr>
            <a:spLocks noGrp="1"/>
          </p:cNvSpPr>
          <p:nvPr/>
        </p:nvSpPr>
        <p:spPr>
          <a:xfrm>
            <a:off x="304800" y="3600450"/>
            <a:ext cx="333375" cy="257175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01">
            <a:extLst>
              <a:ext uri="{FF2B5EF4-FFF2-40B4-BE49-F238E27FC236}">
                <a16:creationId xmlns:a16="http://schemas.microsoft.com/office/drawing/2014/main" id="{1A806207-E527-4F29-9E48-34F141C26B92}"/>
              </a:ext>
            </a:extLst>
          </p:cNvPr>
          <p:cNvSpPr>
            <a:spLocks noGrp="1"/>
          </p:cNvSpPr>
          <p:nvPr/>
        </p:nvSpPr>
        <p:spPr>
          <a:xfrm>
            <a:off x="390525" y="3673412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6" name="CRANE OPERATIONS">
            <a:extLst>
              <a:ext uri="{FF2B5EF4-FFF2-40B4-BE49-F238E27FC236}">
                <a16:creationId xmlns:a16="http://schemas.microsoft.com/office/drawing/2014/main" id="{1CA185A2-2628-4814-AD07-1DEA0CE9BC8B}"/>
              </a:ext>
            </a:extLst>
          </p:cNvPr>
          <p:cNvSpPr>
            <a:spLocks noGrp="1"/>
          </p:cNvSpPr>
          <p:nvPr/>
        </p:nvSpPr>
        <p:spPr>
          <a:xfrm>
            <a:off x="400050" y="3943350"/>
            <a:ext cx="15906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CRANE OPERATIONS</a:t>
            </a:r>
          </a:p>
        </p:txBody>
      </p:sp>
      <p:sp>
        <p:nvSpPr>
          <p:cNvPr id="17" name="Lifting and positioning">
            <a:extLst>
              <a:ext uri="{FF2B5EF4-FFF2-40B4-BE49-F238E27FC236}">
                <a16:creationId xmlns:a16="http://schemas.microsoft.com/office/drawing/2014/main" id="{86D07EA2-F683-412A-B0A9-2D4E182DFA56}"/>
              </a:ext>
            </a:extLst>
          </p:cNvPr>
          <p:cNvSpPr>
            <a:spLocks noGrp="1"/>
          </p:cNvSpPr>
          <p:nvPr/>
        </p:nvSpPr>
        <p:spPr>
          <a:xfrm>
            <a:off x="423862" y="4147757"/>
            <a:ext cx="159067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Lifting and positioning</a:t>
            </a:r>
          </a:p>
        </p:txBody>
      </p:sp>
      <p:sp>
        <p:nvSpPr>
          <p:cNvPr id="18" name="Mobile cranes shown handling cargo and">
            <a:extLst>
              <a:ext uri="{FF2B5EF4-FFF2-40B4-BE49-F238E27FC236}">
                <a16:creationId xmlns:a16="http://schemas.microsoft.com/office/drawing/2014/main" id="{1C870E5D-C2AF-4FBB-BDE9-78438245D50C}"/>
              </a:ext>
            </a:extLst>
          </p:cNvPr>
          <p:cNvSpPr>
            <a:spLocks noGrp="1"/>
          </p:cNvSpPr>
          <p:nvPr/>
        </p:nvSpPr>
        <p:spPr>
          <a:xfrm>
            <a:off x="400050" y="4634674"/>
            <a:ext cx="1590675" cy="53740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013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13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>Mobile cranes handling cargo and larger loads.</a:t>
            </a:r>
          </a:p>
        </p:txBody>
      </p:sp>
      <p:sp>
        <p:nvSpPr>
          <p:cNvPr id="19" name="larger loads.">
            <a:extLst>
              <a:ext uri="{FF2B5EF4-FFF2-40B4-BE49-F238E27FC236}">
                <a16:creationId xmlns:a16="http://schemas.microsoft.com/office/drawing/2014/main" id="{EE3C0902-EB23-416F-98BA-787832549900}"/>
              </a:ext>
            </a:extLst>
          </p:cNvPr>
          <p:cNvSpPr>
            <a:spLocks noGrp="1"/>
          </p:cNvSpPr>
          <p:nvPr/>
        </p:nvSpPr>
        <p:spPr>
          <a:xfrm>
            <a:off x="400050" y="4496181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20" name="Design block 19">
            <a:extLst>
              <a:ext uri="{FF2B5EF4-FFF2-40B4-BE49-F238E27FC236}">
                <a16:creationId xmlns:a16="http://schemas.microsoft.com/office/drawing/2014/main" id="{61D7A5CB-A8C5-4193-875D-8EE747612D0D}"/>
              </a:ext>
            </a:extLst>
          </p:cNvPr>
          <p:cNvSpPr>
            <a:spLocks noGrp="1"/>
          </p:cNvSpPr>
          <p:nvPr/>
        </p:nvSpPr>
        <p:spPr>
          <a:xfrm>
            <a:off x="2190750" y="2095500"/>
            <a:ext cx="1771650" cy="31051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CEAD28C-CF57-44E9-A0E5-360F463FEF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190750" y="2477258"/>
            <a:ext cx="1771650" cy="798585"/>
          </a:xfrm>
          <a:prstGeom prst="rect">
            <a:avLst/>
          </a:prstGeom>
        </p:spPr>
      </p:pic>
      <p:sp>
        <p:nvSpPr>
          <p:cNvPr id="22" name="Design block 21">
            <a:extLst>
              <a:ext uri="{FF2B5EF4-FFF2-40B4-BE49-F238E27FC236}">
                <a16:creationId xmlns:a16="http://schemas.microsoft.com/office/drawing/2014/main" id="{B8824A03-CC3C-444C-B461-0C8AFEED1C35}"/>
              </a:ext>
            </a:extLst>
          </p:cNvPr>
          <p:cNvSpPr>
            <a:spLocks noGrp="1"/>
          </p:cNvSpPr>
          <p:nvPr/>
        </p:nvSpPr>
        <p:spPr>
          <a:xfrm>
            <a:off x="2190750" y="3600450"/>
            <a:ext cx="333375" cy="257175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02">
            <a:extLst>
              <a:ext uri="{FF2B5EF4-FFF2-40B4-BE49-F238E27FC236}">
                <a16:creationId xmlns:a16="http://schemas.microsoft.com/office/drawing/2014/main" id="{5DB9D029-E721-4990-A767-BA4349844305}"/>
              </a:ext>
            </a:extLst>
          </p:cNvPr>
          <p:cNvSpPr>
            <a:spLocks noGrp="1"/>
          </p:cNvSpPr>
          <p:nvPr/>
        </p:nvSpPr>
        <p:spPr>
          <a:xfrm>
            <a:off x="2276475" y="3673412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4" name="MATERIAL HANDLING">
            <a:extLst>
              <a:ext uri="{FF2B5EF4-FFF2-40B4-BE49-F238E27FC236}">
                <a16:creationId xmlns:a16="http://schemas.microsoft.com/office/drawing/2014/main" id="{9CEF48C5-1478-4507-B119-640B15B440BC}"/>
              </a:ext>
            </a:extLst>
          </p:cNvPr>
          <p:cNvSpPr>
            <a:spLocks noGrp="1"/>
          </p:cNvSpPr>
          <p:nvPr/>
        </p:nvSpPr>
        <p:spPr>
          <a:xfrm>
            <a:off x="2286000" y="3943350"/>
            <a:ext cx="15906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MATERIAL HANDLING</a:t>
            </a:r>
          </a:p>
        </p:txBody>
      </p:sp>
      <p:sp>
        <p:nvSpPr>
          <p:cNvPr id="25" name="Handling with purpose">
            <a:extLst>
              <a:ext uri="{FF2B5EF4-FFF2-40B4-BE49-F238E27FC236}">
                <a16:creationId xmlns:a16="http://schemas.microsoft.com/office/drawing/2014/main" id="{7AC646D0-7332-4772-BD9B-1C6D1A4DC64F}"/>
              </a:ext>
            </a:extLst>
          </p:cNvPr>
          <p:cNvSpPr>
            <a:spLocks noGrp="1"/>
          </p:cNvSpPr>
          <p:nvPr/>
        </p:nvSpPr>
        <p:spPr>
          <a:xfrm>
            <a:off x="2286001" y="4147758"/>
            <a:ext cx="1524000" cy="56711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191A1C"/>
                </a:solidFill>
                <a:latin typeface="Arial"/>
                <a:ea typeface="Arial"/>
                <a:cs typeface="Arial"/>
              </a:rPr>
              <a:t>Handling with purpose</a:t>
            </a:r>
          </a:p>
        </p:txBody>
      </p:sp>
      <p:sp>
        <p:nvSpPr>
          <p:cNvPr id="26" name="Forklifts and yard equipment pictured">
            <a:extLst>
              <a:ext uri="{FF2B5EF4-FFF2-40B4-BE49-F238E27FC236}">
                <a16:creationId xmlns:a16="http://schemas.microsoft.com/office/drawing/2014/main" id="{9205A19F-E393-4BFD-893D-A3F8A9F861A5}"/>
              </a:ext>
            </a:extLst>
          </p:cNvPr>
          <p:cNvSpPr>
            <a:spLocks noGrp="1"/>
          </p:cNvSpPr>
          <p:nvPr/>
        </p:nvSpPr>
        <p:spPr>
          <a:xfrm>
            <a:off x="2286000" y="4634674"/>
            <a:ext cx="1590675" cy="53740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013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13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1013" b="0" dirty="0">
                <a:solidFill>
                  <a:srgbClr val="626469"/>
                </a:solidFill>
                <a:latin typeface="Arial"/>
                <a:ea typeface="Arial"/>
                <a:cs typeface="Arial"/>
              </a:rPr>
              <a:t>Forklifts and yard equipment moving materials.</a:t>
            </a:r>
          </a:p>
        </p:txBody>
      </p:sp>
      <p:sp>
        <p:nvSpPr>
          <p:cNvPr id="27" name="moving materials.">
            <a:extLst>
              <a:ext uri="{FF2B5EF4-FFF2-40B4-BE49-F238E27FC236}">
                <a16:creationId xmlns:a16="http://schemas.microsoft.com/office/drawing/2014/main" id="{EC5983EC-B286-44BE-AD97-DF841D9D35FE}"/>
              </a:ext>
            </a:extLst>
          </p:cNvPr>
          <p:cNvSpPr>
            <a:spLocks noGrp="1"/>
          </p:cNvSpPr>
          <p:nvPr/>
        </p:nvSpPr>
        <p:spPr>
          <a:xfrm>
            <a:off x="2286000" y="4496181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28" name="Design block 27">
            <a:extLst>
              <a:ext uri="{FF2B5EF4-FFF2-40B4-BE49-F238E27FC236}">
                <a16:creationId xmlns:a16="http://schemas.microsoft.com/office/drawing/2014/main" id="{682F5681-A19F-4C48-8F5A-B56B770E18AD}"/>
              </a:ext>
            </a:extLst>
          </p:cNvPr>
          <p:cNvSpPr>
            <a:spLocks noGrp="1"/>
          </p:cNvSpPr>
          <p:nvPr/>
        </p:nvSpPr>
        <p:spPr>
          <a:xfrm>
            <a:off x="4076700" y="2095500"/>
            <a:ext cx="1771650" cy="31051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AF6EC62-869E-4631-A62D-D97751245E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076700" y="2378273"/>
            <a:ext cx="1771650" cy="996553"/>
          </a:xfrm>
          <a:prstGeom prst="rect">
            <a:avLst/>
          </a:prstGeom>
        </p:spPr>
      </p:pic>
      <p:sp>
        <p:nvSpPr>
          <p:cNvPr id="30" name="Design block 29">
            <a:extLst>
              <a:ext uri="{FF2B5EF4-FFF2-40B4-BE49-F238E27FC236}">
                <a16:creationId xmlns:a16="http://schemas.microsoft.com/office/drawing/2014/main" id="{A7015A75-C446-4EDE-8492-362D85E334BC}"/>
              </a:ext>
            </a:extLst>
          </p:cNvPr>
          <p:cNvSpPr>
            <a:spLocks noGrp="1"/>
          </p:cNvSpPr>
          <p:nvPr/>
        </p:nvSpPr>
        <p:spPr>
          <a:xfrm>
            <a:off x="4076700" y="3600450"/>
            <a:ext cx="333375" cy="257175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03">
            <a:extLst>
              <a:ext uri="{FF2B5EF4-FFF2-40B4-BE49-F238E27FC236}">
                <a16:creationId xmlns:a16="http://schemas.microsoft.com/office/drawing/2014/main" id="{FE8F6DC2-AA5A-4B15-B293-C6752D84A04D}"/>
              </a:ext>
            </a:extLst>
          </p:cNvPr>
          <p:cNvSpPr>
            <a:spLocks noGrp="1"/>
          </p:cNvSpPr>
          <p:nvPr/>
        </p:nvSpPr>
        <p:spPr>
          <a:xfrm>
            <a:off x="4162425" y="3673412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2" name="HEAVY TRANSPORT">
            <a:extLst>
              <a:ext uri="{FF2B5EF4-FFF2-40B4-BE49-F238E27FC236}">
                <a16:creationId xmlns:a16="http://schemas.microsoft.com/office/drawing/2014/main" id="{033D5F3B-C3DD-451D-8970-62BC7205B3A9}"/>
              </a:ext>
            </a:extLst>
          </p:cNvPr>
          <p:cNvSpPr>
            <a:spLocks noGrp="1"/>
          </p:cNvSpPr>
          <p:nvPr/>
        </p:nvSpPr>
        <p:spPr>
          <a:xfrm>
            <a:off x="4171950" y="3943350"/>
            <a:ext cx="15906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HEAVY TRANSPORT</a:t>
            </a:r>
          </a:p>
        </p:txBody>
      </p:sp>
      <p:sp>
        <p:nvSpPr>
          <p:cNvPr id="33" name="Movement at scale">
            <a:extLst>
              <a:ext uri="{FF2B5EF4-FFF2-40B4-BE49-F238E27FC236}">
                <a16:creationId xmlns:a16="http://schemas.microsoft.com/office/drawing/2014/main" id="{AA87121D-7860-4C53-A5F4-FE43AE23FB83}"/>
              </a:ext>
            </a:extLst>
          </p:cNvPr>
          <p:cNvSpPr>
            <a:spLocks noGrp="1"/>
          </p:cNvSpPr>
          <p:nvPr/>
        </p:nvSpPr>
        <p:spPr>
          <a:xfrm>
            <a:off x="4171950" y="4147757"/>
            <a:ext cx="1590675" cy="55759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191A1C"/>
                </a:solidFill>
                <a:latin typeface="Arial"/>
                <a:ea typeface="Arial"/>
                <a:cs typeface="Arial"/>
              </a:rPr>
              <a:t>Movement at scale</a:t>
            </a:r>
          </a:p>
        </p:txBody>
      </p:sp>
      <p:sp>
        <p:nvSpPr>
          <p:cNvPr id="34" name="Low-bed and multi-axle transport for">
            <a:extLst>
              <a:ext uri="{FF2B5EF4-FFF2-40B4-BE49-F238E27FC236}">
                <a16:creationId xmlns:a16="http://schemas.microsoft.com/office/drawing/2014/main" id="{3D9228F1-C0C8-40BF-A47E-A636CEE0196A}"/>
              </a:ext>
            </a:extLst>
          </p:cNvPr>
          <p:cNvSpPr>
            <a:spLocks noGrp="1"/>
          </p:cNvSpPr>
          <p:nvPr/>
        </p:nvSpPr>
        <p:spPr>
          <a:xfrm>
            <a:off x="4171950" y="4496182"/>
            <a:ext cx="1590675" cy="67589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013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13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1013" b="0" dirty="0">
                <a:solidFill>
                  <a:srgbClr val="626469"/>
                </a:solidFill>
                <a:latin typeface="Arial"/>
                <a:ea typeface="Arial"/>
                <a:cs typeface="Arial"/>
              </a:rPr>
              <a:t>Low-bed and multi-axle transport for equipment and cargo.</a:t>
            </a:r>
          </a:p>
        </p:txBody>
      </p:sp>
      <p:sp>
        <p:nvSpPr>
          <p:cNvPr id="35" name="equipment and cargo.">
            <a:extLst>
              <a:ext uri="{FF2B5EF4-FFF2-40B4-BE49-F238E27FC236}">
                <a16:creationId xmlns:a16="http://schemas.microsoft.com/office/drawing/2014/main" id="{D9FB0889-F426-4CB9-8BD8-AAB5ECF8E9EF}"/>
              </a:ext>
            </a:extLst>
          </p:cNvPr>
          <p:cNvSpPr>
            <a:spLocks noGrp="1"/>
          </p:cNvSpPr>
          <p:nvPr/>
        </p:nvSpPr>
        <p:spPr>
          <a:xfrm>
            <a:off x="4171950" y="4496181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36" name="Design block 35">
            <a:extLst>
              <a:ext uri="{FF2B5EF4-FFF2-40B4-BE49-F238E27FC236}">
                <a16:creationId xmlns:a16="http://schemas.microsoft.com/office/drawing/2014/main" id="{D3A48D7C-F964-4508-803E-0F14A37566A3}"/>
              </a:ext>
            </a:extLst>
          </p:cNvPr>
          <p:cNvSpPr>
            <a:spLocks noGrp="1"/>
          </p:cNvSpPr>
          <p:nvPr/>
        </p:nvSpPr>
        <p:spPr>
          <a:xfrm>
            <a:off x="5962650" y="2095500"/>
            <a:ext cx="1771650" cy="31051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CFCA06A4-45F9-4671-A947-32768F4BC2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257806" y="2095500"/>
            <a:ext cx="1181338" cy="1562100"/>
          </a:xfrm>
          <a:prstGeom prst="rect">
            <a:avLst/>
          </a:prstGeom>
        </p:spPr>
      </p:pic>
      <p:sp>
        <p:nvSpPr>
          <p:cNvPr id="38" name="Design block 37">
            <a:extLst>
              <a:ext uri="{FF2B5EF4-FFF2-40B4-BE49-F238E27FC236}">
                <a16:creationId xmlns:a16="http://schemas.microsoft.com/office/drawing/2014/main" id="{3722BAE1-EDB0-4A4B-98E3-7FC61C286B21}"/>
              </a:ext>
            </a:extLst>
          </p:cNvPr>
          <p:cNvSpPr>
            <a:spLocks noGrp="1"/>
          </p:cNvSpPr>
          <p:nvPr/>
        </p:nvSpPr>
        <p:spPr>
          <a:xfrm>
            <a:off x="5962650" y="3600450"/>
            <a:ext cx="333375" cy="257175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9" name="04">
            <a:extLst>
              <a:ext uri="{FF2B5EF4-FFF2-40B4-BE49-F238E27FC236}">
                <a16:creationId xmlns:a16="http://schemas.microsoft.com/office/drawing/2014/main" id="{37435925-EB39-4D68-A52F-3F2FC4D85C3E}"/>
              </a:ext>
            </a:extLst>
          </p:cNvPr>
          <p:cNvSpPr>
            <a:spLocks noGrp="1"/>
          </p:cNvSpPr>
          <p:nvPr/>
        </p:nvSpPr>
        <p:spPr>
          <a:xfrm>
            <a:off x="6048375" y="3673412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0" name="SITE &amp; ACCESS">
            <a:extLst>
              <a:ext uri="{FF2B5EF4-FFF2-40B4-BE49-F238E27FC236}">
                <a16:creationId xmlns:a16="http://schemas.microsoft.com/office/drawing/2014/main" id="{E748AF96-9AD5-4688-B6B2-2FA0F2A953F4}"/>
              </a:ext>
            </a:extLst>
          </p:cNvPr>
          <p:cNvSpPr>
            <a:spLocks noGrp="1"/>
          </p:cNvSpPr>
          <p:nvPr/>
        </p:nvSpPr>
        <p:spPr>
          <a:xfrm>
            <a:off x="6057900" y="3943350"/>
            <a:ext cx="15906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SITE &amp; ACCESS</a:t>
            </a:r>
          </a:p>
        </p:txBody>
      </p:sp>
      <p:sp>
        <p:nvSpPr>
          <p:cNvPr id="41" name="Reach the working area">
            <a:extLst>
              <a:ext uri="{FF2B5EF4-FFF2-40B4-BE49-F238E27FC236}">
                <a16:creationId xmlns:a16="http://schemas.microsoft.com/office/drawing/2014/main" id="{F1E4E600-C5CA-42E2-9853-F7FF7D1E3459}"/>
              </a:ext>
            </a:extLst>
          </p:cNvPr>
          <p:cNvSpPr>
            <a:spLocks noGrp="1"/>
          </p:cNvSpPr>
          <p:nvPr/>
        </p:nvSpPr>
        <p:spPr>
          <a:xfrm>
            <a:off x="6057900" y="4181094"/>
            <a:ext cx="1590675" cy="52425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191A1C"/>
                </a:solidFill>
                <a:latin typeface="Arial"/>
                <a:ea typeface="Arial"/>
                <a:cs typeface="Arial"/>
              </a:rPr>
              <a:t>Reach the working area</a:t>
            </a:r>
          </a:p>
        </p:txBody>
      </p:sp>
      <p:sp>
        <p:nvSpPr>
          <p:cNvPr id="42" name="Elevated access and machinery for">
            <a:extLst>
              <a:ext uri="{FF2B5EF4-FFF2-40B4-BE49-F238E27FC236}">
                <a16:creationId xmlns:a16="http://schemas.microsoft.com/office/drawing/2014/main" id="{A2A49EF8-1A7F-4266-A4D1-2C85FF3FBD06}"/>
              </a:ext>
            </a:extLst>
          </p:cNvPr>
          <p:cNvSpPr>
            <a:spLocks noGrp="1"/>
          </p:cNvSpPr>
          <p:nvPr/>
        </p:nvSpPr>
        <p:spPr>
          <a:xfrm>
            <a:off x="6057900" y="4595164"/>
            <a:ext cx="1590675" cy="57691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013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13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1013" b="0" dirty="0">
                <a:solidFill>
                  <a:srgbClr val="626469"/>
                </a:solidFill>
                <a:latin typeface="Arial"/>
                <a:ea typeface="Arial"/>
                <a:cs typeface="Arial"/>
              </a:rPr>
              <a:t>Elevated access and machinery for site activities.</a:t>
            </a:r>
          </a:p>
        </p:txBody>
      </p:sp>
      <p:sp>
        <p:nvSpPr>
          <p:cNvPr id="43" name="varied site activities.">
            <a:extLst>
              <a:ext uri="{FF2B5EF4-FFF2-40B4-BE49-F238E27FC236}">
                <a16:creationId xmlns:a16="http://schemas.microsoft.com/office/drawing/2014/main" id="{AEB22793-F699-4170-9645-53EC1170DD02}"/>
              </a:ext>
            </a:extLst>
          </p:cNvPr>
          <p:cNvSpPr>
            <a:spLocks noGrp="1"/>
          </p:cNvSpPr>
          <p:nvPr/>
        </p:nvSpPr>
        <p:spPr>
          <a:xfrm>
            <a:off x="6057900" y="4496181"/>
            <a:ext cx="16573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4" name="Design block 43">
            <a:extLst>
              <a:ext uri="{FF2B5EF4-FFF2-40B4-BE49-F238E27FC236}">
                <a16:creationId xmlns:a16="http://schemas.microsoft.com/office/drawing/2014/main" id="{7C5491C4-CD21-4156-BEAD-73CC3C234023}"/>
              </a:ext>
            </a:extLst>
          </p:cNvPr>
          <p:cNvSpPr>
            <a:spLocks noGrp="1"/>
          </p:cNvSpPr>
          <p:nvPr/>
        </p:nvSpPr>
        <p:spPr>
          <a:xfrm>
            <a:off x="304800" y="5229225"/>
            <a:ext cx="7410450" cy="19050"/>
          </a:xfrm>
          <a:prstGeom prst="rect">
            <a:avLst/>
          </a:prstGeom>
          <a:solidFill>
            <a:srgbClr val="D1D1C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5" name="WASEEM CONSTRUCTION COMPANY">
            <a:extLst>
              <a:ext uri="{FF2B5EF4-FFF2-40B4-BE49-F238E27FC236}">
                <a16:creationId xmlns:a16="http://schemas.microsoft.com/office/drawing/2014/main" id="{57115404-85DB-4056-B9AF-3768AB6BCAB4}"/>
              </a:ext>
            </a:extLst>
          </p:cNvPr>
          <p:cNvSpPr>
            <a:spLocks noGrp="1"/>
          </p:cNvSpPr>
          <p:nvPr/>
        </p:nvSpPr>
        <p:spPr>
          <a:xfrm>
            <a:off x="304800" y="5366576"/>
            <a:ext cx="409575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46" name="SERVICE CONCEPT / FOR REVIEW">
            <a:extLst>
              <a:ext uri="{FF2B5EF4-FFF2-40B4-BE49-F238E27FC236}">
                <a16:creationId xmlns:a16="http://schemas.microsoft.com/office/drawing/2014/main" id="{0763A494-F94B-42FD-B953-8BE5C89A37C9}"/>
              </a:ext>
            </a:extLst>
          </p:cNvPr>
          <p:cNvSpPr>
            <a:spLocks noGrp="1"/>
          </p:cNvSpPr>
          <p:nvPr/>
        </p:nvSpPr>
        <p:spPr>
          <a:xfrm>
            <a:off x="5419725" y="5343525"/>
            <a:ext cx="18669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6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6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SERVICE CONCEPT / FOR REVIEW</a:t>
            </a:r>
          </a:p>
        </p:txBody>
      </p:sp>
      <p:sp>
        <p:nvSpPr>
          <p:cNvPr id="47" name="Design block 46">
            <a:extLst>
              <a:ext uri="{FF2B5EF4-FFF2-40B4-BE49-F238E27FC236}">
                <a16:creationId xmlns:a16="http://schemas.microsoft.com/office/drawing/2014/main" id="{C825BDDC-EB44-4D19-ABEA-1F0DEBC0CD52}"/>
              </a:ext>
            </a:extLst>
          </p:cNvPr>
          <p:cNvSpPr>
            <a:spLocks noGrp="1"/>
          </p:cNvSpPr>
          <p:nvPr/>
        </p:nvSpPr>
        <p:spPr>
          <a:xfrm>
            <a:off x="7400925" y="5276850"/>
            <a:ext cx="314325" cy="2095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8" name="03">
            <a:extLst>
              <a:ext uri="{FF2B5EF4-FFF2-40B4-BE49-F238E27FC236}">
                <a16:creationId xmlns:a16="http://schemas.microsoft.com/office/drawing/2014/main" id="{B7B99147-42AB-427A-8482-BB013DB8C99B}"/>
              </a:ext>
            </a:extLst>
          </p:cNvPr>
          <p:cNvSpPr>
            <a:spLocks noGrp="1"/>
          </p:cNvSpPr>
          <p:nvPr/>
        </p:nvSpPr>
        <p:spPr>
          <a:xfrm>
            <a:off x="7496175" y="5348097"/>
            <a:ext cx="219075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94068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esign block 0">
            <a:extLst>
              <a:ext uri="{FF2B5EF4-FFF2-40B4-BE49-F238E27FC236}">
                <a16:creationId xmlns:a16="http://schemas.microsoft.com/office/drawing/2014/main" id="{FA63AE41-2A3F-4AC1-B9FC-8195A1049C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20050" cy="5667375"/>
          </a:xfrm>
          <a:prstGeom prst="rect">
            <a:avLst/>
          </a:prstGeom>
          <a:solidFill>
            <a:srgbClr val="191A1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8426120-D638-492E-9EC0-F35ACB60C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68" y="0"/>
            <a:ext cx="3475888" cy="5667375"/>
          </a:xfrm>
          <a:prstGeom prst="rect">
            <a:avLst/>
          </a:prstGeom>
        </p:spPr>
      </p:pic>
      <p:sp>
        <p:nvSpPr>
          <p:cNvPr id="3" name="Design block 2">
            <a:extLst>
              <a:ext uri="{FF2B5EF4-FFF2-40B4-BE49-F238E27FC236}">
                <a16:creationId xmlns:a16="http://schemas.microsoft.com/office/drawing/2014/main" id="{05C7256F-3EAA-4184-A0A0-690CD2C3DEF7}"/>
              </a:ext>
            </a:extLst>
          </p:cNvPr>
          <p:cNvSpPr>
            <a:spLocks noGrp="1"/>
          </p:cNvSpPr>
          <p:nvPr/>
        </p:nvSpPr>
        <p:spPr>
          <a:xfrm>
            <a:off x="3476625" y="0"/>
            <a:ext cx="4543425" cy="5667375"/>
          </a:xfrm>
          <a:prstGeom prst="rect">
            <a:avLst/>
          </a:prstGeom>
          <a:solidFill>
            <a:srgbClr val="191A1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03 / OPERATIONS SHOWCASE">
            <a:extLst>
              <a:ext uri="{FF2B5EF4-FFF2-40B4-BE49-F238E27FC236}">
                <a16:creationId xmlns:a16="http://schemas.microsoft.com/office/drawing/2014/main" id="{825F7452-3F78-4AA8-9746-E9DDA16CF7F9}"/>
              </a:ext>
            </a:extLst>
          </p:cNvPr>
          <p:cNvSpPr>
            <a:spLocks noGrp="1"/>
          </p:cNvSpPr>
          <p:nvPr/>
        </p:nvSpPr>
        <p:spPr>
          <a:xfrm>
            <a:off x="3743325" y="347472"/>
            <a:ext cx="3971925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03 / OPERATIONS SHOWCASE</a:t>
            </a:r>
          </a:p>
        </p:txBody>
      </p:sp>
      <p:sp>
        <p:nvSpPr>
          <p:cNvPr id="5" name="BIG LOADS.">
            <a:extLst>
              <a:ext uri="{FF2B5EF4-FFF2-40B4-BE49-F238E27FC236}">
                <a16:creationId xmlns:a16="http://schemas.microsoft.com/office/drawing/2014/main" id="{CEAAE03C-A43D-477C-8752-178560392765}"/>
              </a:ext>
            </a:extLst>
          </p:cNvPr>
          <p:cNvSpPr>
            <a:spLocks noGrp="1"/>
          </p:cNvSpPr>
          <p:nvPr/>
        </p:nvSpPr>
        <p:spPr>
          <a:xfrm>
            <a:off x="3724275" y="590931"/>
            <a:ext cx="1984428" cy="453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BIG LOADS.</a:t>
            </a:r>
          </a:p>
        </p:txBody>
      </p:sp>
      <p:sp>
        <p:nvSpPr>
          <p:cNvPr id="6" name="CLEAR FOCUS.">
            <a:extLst>
              <a:ext uri="{FF2B5EF4-FFF2-40B4-BE49-F238E27FC236}">
                <a16:creationId xmlns:a16="http://schemas.microsoft.com/office/drawing/2014/main" id="{D439D3A0-A477-43E3-9A03-CC540C657A4F}"/>
              </a:ext>
            </a:extLst>
          </p:cNvPr>
          <p:cNvSpPr>
            <a:spLocks noGrp="1"/>
          </p:cNvSpPr>
          <p:nvPr/>
        </p:nvSpPr>
        <p:spPr>
          <a:xfrm>
            <a:off x="3724275" y="981456"/>
            <a:ext cx="2524125" cy="453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CLEAR FOCUS.</a:t>
            </a:r>
          </a:p>
        </p:txBody>
      </p:sp>
      <p:sp>
        <p:nvSpPr>
          <p:cNvPr id="7" name="A closer look at lifting and load positioning.">
            <a:extLst>
              <a:ext uri="{FF2B5EF4-FFF2-40B4-BE49-F238E27FC236}">
                <a16:creationId xmlns:a16="http://schemas.microsoft.com/office/drawing/2014/main" id="{E1FF68D8-E152-498A-9CDF-EA70694F910F}"/>
              </a:ext>
            </a:extLst>
          </p:cNvPr>
          <p:cNvSpPr>
            <a:spLocks noGrp="1"/>
          </p:cNvSpPr>
          <p:nvPr/>
        </p:nvSpPr>
        <p:spPr>
          <a:xfrm>
            <a:off x="3752850" y="1511808"/>
            <a:ext cx="3157728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A closer look at lifting and load positioning.</a:t>
            </a:r>
          </a:p>
        </p:txBody>
      </p:sp>
      <p:sp>
        <p:nvSpPr>
          <p:cNvPr id="8" name="Design block 7">
            <a:extLst>
              <a:ext uri="{FF2B5EF4-FFF2-40B4-BE49-F238E27FC236}">
                <a16:creationId xmlns:a16="http://schemas.microsoft.com/office/drawing/2014/main" id="{39ADBD8F-56A0-481F-AC59-3A3A8A60BB0A}"/>
              </a:ext>
            </a:extLst>
          </p:cNvPr>
          <p:cNvSpPr>
            <a:spLocks noGrp="1"/>
          </p:cNvSpPr>
          <p:nvPr/>
        </p:nvSpPr>
        <p:spPr>
          <a:xfrm>
            <a:off x="3752850" y="1828800"/>
            <a:ext cx="419100" cy="190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Mobile cranes pictured alongside cylindrical loads and trans">
            <a:extLst>
              <a:ext uri="{FF2B5EF4-FFF2-40B4-BE49-F238E27FC236}">
                <a16:creationId xmlns:a16="http://schemas.microsoft.com/office/drawing/2014/main" id="{5142234B-0668-4BC9-A2C6-46305D6391EE}"/>
              </a:ext>
            </a:extLst>
          </p:cNvPr>
          <p:cNvSpPr>
            <a:spLocks noGrp="1"/>
          </p:cNvSpPr>
          <p:nvPr/>
        </p:nvSpPr>
        <p:spPr>
          <a:xfrm>
            <a:off x="3752850" y="1981200"/>
            <a:ext cx="39624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75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8C8C8"/>
                </a:solidFill>
                <a:latin typeface="Arial"/>
                <a:ea typeface="Arial"/>
                <a:cs typeface="Arial"/>
              </a:rPr>
              <a:t>Mobile cranes handle cylindrical loads beside transport trailers. Supporting views show equipment positioning and the working area.</a:t>
            </a:r>
          </a:p>
        </p:txBody>
      </p:sp>
      <p:sp>
        <p:nvSpPr>
          <p:cNvPr id="10" name="views show equipment positioning and the wider working envir">
            <a:extLst>
              <a:ext uri="{FF2B5EF4-FFF2-40B4-BE49-F238E27FC236}">
                <a16:creationId xmlns:a16="http://schemas.microsoft.com/office/drawing/2014/main" id="{480E785C-8B1C-4BB7-BE8C-D928142CB416}"/>
              </a:ext>
            </a:extLst>
          </p:cNvPr>
          <p:cNvSpPr>
            <a:spLocks noGrp="1"/>
          </p:cNvSpPr>
          <p:nvPr/>
        </p:nvSpPr>
        <p:spPr>
          <a:xfrm>
            <a:off x="3752850" y="2158365"/>
            <a:ext cx="39624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E3DB167-2F41-4E3D-81B2-AC05C12006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874294" y="2628900"/>
            <a:ext cx="1614488" cy="21526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A2BE148-E6FC-4DD8-A423-2BEE23E74B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931694" y="2628900"/>
            <a:ext cx="1614488" cy="2152650"/>
          </a:xfrm>
          <a:prstGeom prst="rect">
            <a:avLst/>
          </a:prstGeom>
        </p:spPr>
      </p:pic>
      <p:sp>
        <p:nvSpPr>
          <p:cNvPr id="13" name="Design block 12">
            <a:extLst>
              <a:ext uri="{FF2B5EF4-FFF2-40B4-BE49-F238E27FC236}">
                <a16:creationId xmlns:a16="http://schemas.microsoft.com/office/drawing/2014/main" id="{9EEAF0FB-375E-4A24-8694-862694970A32}"/>
              </a:ext>
            </a:extLst>
          </p:cNvPr>
          <p:cNvSpPr>
            <a:spLocks noGrp="1"/>
          </p:cNvSpPr>
          <p:nvPr/>
        </p:nvSpPr>
        <p:spPr>
          <a:xfrm>
            <a:off x="3752850" y="4819650"/>
            <a:ext cx="1857375" cy="238125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01 / LOAD HANDLING">
            <a:extLst>
              <a:ext uri="{FF2B5EF4-FFF2-40B4-BE49-F238E27FC236}">
                <a16:creationId xmlns:a16="http://schemas.microsoft.com/office/drawing/2014/main" id="{0E57AB44-DDF6-4C91-9697-4D6A4B3A750D}"/>
              </a:ext>
            </a:extLst>
          </p:cNvPr>
          <p:cNvSpPr>
            <a:spLocks noGrp="1"/>
          </p:cNvSpPr>
          <p:nvPr/>
        </p:nvSpPr>
        <p:spPr>
          <a:xfrm>
            <a:off x="3857625" y="4904899"/>
            <a:ext cx="180975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01 / LOAD HANDLING</a:t>
            </a:r>
          </a:p>
        </p:txBody>
      </p:sp>
      <p:sp>
        <p:nvSpPr>
          <p:cNvPr id="15" name="Design block 14">
            <a:extLst>
              <a:ext uri="{FF2B5EF4-FFF2-40B4-BE49-F238E27FC236}">
                <a16:creationId xmlns:a16="http://schemas.microsoft.com/office/drawing/2014/main" id="{E372050F-89D9-40DD-9EE9-597C166A24E6}"/>
              </a:ext>
            </a:extLst>
          </p:cNvPr>
          <p:cNvSpPr>
            <a:spLocks noGrp="1"/>
          </p:cNvSpPr>
          <p:nvPr/>
        </p:nvSpPr>
        <p:spPr>
          <a:xfrm>
            <a:off x="5753100" y="4819650"/>
            <a:ext cx="1971675" cy="238125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02 / CRANE POSITIONING">
            <a:extLst>
              <a:ext uri="{FF2B5EF4-FFF2-40B4-BE49-F238E27FC236}">
                <a16:creationId xmlns:a16="http://schemas.microsoft.com/office/drawing/2014/main" id="{73553C70-9666-418E-80A3-FE81781818A7}"/>
              </a:ext>
            </a:extLst>
          </p:cNvPr>
          <p:cNvSpPr>
            <a:spLocks noGrp="1"/>
          </p:cNvSpPr>
          <p:nvPr/>
        </p:nvSpPr>
        <p:spPr>
          <a:xfrm>
            <a:off x="5857875" y="4904899"/>
            <a:ext cx="1857375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02 / CRANE POSITIONING</a:t>
            </a:r>
          </a:p>
        </p:txBody>
      </p:sp>
      <p:sp>
        <p:nvSpPr>
          <p:cNvPr id="17" name="Design block 16">
            <a:extLst>
              <a:ext uri="{FF2B5EF4-FFF2-40B4-BE49-F238E27FC236}">
                <a16:creationId xmlns:a16="http://schemas.microsoft.com/office/drawing/2014/main" id="{57EC38B3-E0FF-4A72-A5C4-7D63AF099384}"/>
              </a:ext>
            </a:extLst>
          </p:cNvPr>
          <p:cNvSpPr>
            <a:spLocks noGrp="1"/>
          </p:cNvSpPr>
          <p:nvPr/>
        </p:nvSpPr>
        <p:spPr>
          <a:xfrm>
            <a:off x="0" y="5124450"/>
            <a:ext cx="3476625" cy="542925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LIFTING &amp; LOAD POSITIONING">
            <a:extLst>
              <a:ext uri="{FF2B5EF4-FFF2-40B4-BE49-F238E27FC236}">
                <a16:creationId xmlns:a16="http://schemas.microsoft.com/office/drawing/2014/main" id="{915386F5-CD8A-4540-A136-ADBE7966E78A}"/>
              </a:ext>
            </a:extLst>
          </p:cNvPr>
          <p:cNvSpPr>
            <a:spLocks noGrp="1"/>
          </p:cNvSpPr>
          <p:nvPr/>
        </p:nvSpPr>
        <p:spPr>
          <a:xfrm>
            <a:off x="266700" y="5321808"/>
            <a:ext cx="409575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LIFTING &amp; LOAD POSITIONING</a:t>
            </a:r>
          </a:p>
        </p:txBody>
      </p:sp>
      <p:sp>
        <p:nvSpPr>
          <p:cNvPr id="19" name="WASEEM CONSTRUCTION COMPANY">
            <a:extLst>
              <a:ext uri="{FF2B5EF4-FFF2-40B4-BE49-F238E27FC236}">
                <a16:creationId xmlns:a16="http://schemas.microsoft.com/office/drawing/2014/main" id="{54FA9E6D-3D69-4F6B-8536-C9A80CDF18DF}"/>
              </a:ext>
            </a:extLst>
          </p:cNvPr>
          <p:cNvSpPr>
            <a:spLocks noGrp="1"/>
          </p:cNvSpPr>
          <p:nvPr/>
        </p:nvSpPr>
        <p:spPr>
          <a:xfrm>
            <a:off x="3752850" y="5318379"/>
            <a:ext cx="39624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20" name="Design block 19">
            <a:extLst>
              <a:ext uri="{FF2B5EF4-FFF2-40B4-BE49-F238E27FC236}">
                <a16:creationId xmlns:a16="http://schemas.microsoft.com/office/drawing/2014/main" id="{34E73F9E-BFE8-49D4-8FD0-FB0C058DFEF0}"/>
              </a:ext>
            </a:extLst>
          </p:cNvPr>
          <p:cNvSpPr>
            <a:spLocks noGrp="1"/>
          </p:cNvSpPr>
          <p:nvPr/>
        </p:nvSpPr>
        <p:spPr>
          <a:xfrm>
            <a:off x="7400925" y="5276850"/>
            <a:ext cx="314325" cy="2095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04">
            <a:extLst>
              <a:ext uri="{FF2B5EF4-FFF2-40B4-BE49-F238E27FC236}">
                <a16:creationId xmlns:a16="http://schemas.microsoft.com/office/drawing/2014/main" id="{A21631B7-988C-4F66-B67D-8620D52C6C0A}"/>
              </a:ext>
            </a:extLst>
          </p:cNvPr>
          <p:cNvSpPr>
            <a:spLocks noGrp="1"/>
          </p:cNvSpPr>
          <p:nvPr/>
        </p:nvSpPr>
        <p:spPr>
          <a:xfrm>
            <a:off x="7496175" y="5348097"/>
            <a:ext cx="219075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58710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esign block 0">
            <a:extLst>
              <a:ext uri="{FF2B5EF4-FFF2-40B4-BE49-F238E27FC236}">
                <a16:creationId xmlns:a16="http://schemas.microsoft.com/office/drawing/2014/main" id="{99F7AC6B-AD58-4909-BB0A-BFBE7CF4C9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20050" cy="5667375"/>
          </a:xfrm>
          <a:prstGeom prst="rect">
            <a:avLst/>
          </a:prstGeom>
          <a:solidFill>
            <a:srgbClr val="191A1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WASEEM">
            <a:extLst>
              <a:ext uri="{FF2B5EF4-FFF2-40B4-BE49-F238E27FC236}">
                <a16:creationId xmlns:a16="http://schemas.microsoft.com/office/drawing/2014/main" id="{206D1631-C2F0-4C28-B611-DFF30A77FA29}"/>
              </a:ext>
            </a:extLst>
          </p:cNvPr>
          <p:cNvSpPr>
            <a:spLocks noGrp="1"/>
          </p:cNvSpPr>
          <p:nvPr/>
        </p:nvSpPr>
        <p:spPr>
          <a:xfrm>
            <a:off x="304800" y="245555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>
              <a:ext uri="{FF2B5EF4-FFF2-40B4-BE49-F238E27FC236}">
                <a16:creationId xmlns:a16="http://schemas.microsoft.com/office/drawing/2014/main" id="{1464C378-0953-422E-8D4B-B5DE9CC23C03}"/>
              </a:ext>
            </a:extLst>
          </p:cNvPr>
          <p:cNvSpPr>
            <a:spLocks noGrp="1"/>
          </p:cNvSpPr>
          <p:nvPr/>
        </p:nvSpPr>
        <p:spPr>
          <a:xfrm>
            <a:off x="314325" y="455581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6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6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04 / MATERIAL HANDLING">
            <a:extLst>
              <a:ext uri="{FF2B5EF4-FFF2-40B4-BE49-F238E27FC236}">
                <a16:creationId xmlns:a16="http://schemas.microsoft.com/office/drawing/2014/main" id="{D3ADCE93-6796-49F5-853A-8A00105E6933}"/>
              </a:ext>
            </a:extLst>
          </p:cNvPr>
          <p:cNvSpPr>
            <a:spLocks noGrp="1"/>
          </p:cNvSpPr>
          <p:nvPr/>
        </p:nvSpPr>
        <p:spPr>
          <a:xfrm>
            <a:off x="3714750" y="356426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04 / MATERIAL HANDLING</a:t>
            </a:r>
          </a:p>
        </p:txBody>
      </p:sp>
      <p:sp>
        <p:nvSpPr>
          <p:cNvPr id="5" name="MATERIALS IN MOTION.">
            <a:extLst>
              <a:ext uri="{FF2B5EF4-FFF2-40B4-BE49-F238E27FC236}">
                <a16:creationId xmlns:a16="http://schemas.microsoft.com/office/drawing/2014/main" id="{51F23BE0-A63F-4F1D-A781-7E4D761BCE32}"/>
              </a:ext>
            </a:extLst>
          </p:cNvPr>
          <p:cNvSpPr>
            <a:spLocks noGrp="1"/>
          </p:cNvSpPr>
          <p:nvPr/>
        </p:nvSpPr>
        <p:spPr>
          <a:xfrm>
            <a:off x="304800" y="848106"/>
            <a:ext cx="3873289" cy="453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MATERIALS IN MOTION.</a:t>
            </a:r>
          </a:p>
        </p:txBody>
      </p:sp>
      <p:sp>
        <p:nvSpPr>
          <p:cNvPr id="6" name="Forklifts and handling equipment pictured in industrial yard">
            <a:extLst>
              <a:ext uri="{FF2B5EF4-FFF2-40B4-BE49-F238E27FC236}">
                <a16:creationId xmlns:a16="http://schemas.microsoft.com/office/drawing/2014/main" id="{2733E0D7-85D0-4548-96EF-103F142950EB}"/>
              </a:ext>
            </a:extLst>
          </p:cNvPr>
          <p:cNvSpPr>
            <a:spLocks noGrp="1"/>
          </p:cNvSpPr>
          <p:nvPr/>
        </p:nvSpPr>
        <p:spPr>
          <a:xfrm>
            <a:off x="314325" y="1390650"/>
            <a:ext cx="73914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8C8"/>
                </a:solidFill>
                <a:latin typeface="Arial"/>
                <a:ea typeface="Arial"/>
                <a:cs typeface="Arial"/>
              </a:rPr>
              <a:t>Forklifts and handling equipment in industrial yards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70F0F7-3882-4A94-9EA7-B8EDEBD67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04800" y="1924898"/>
            <a:ext cx="3600450" cy="2627203"/>
          </a:xfrm>
          <a:prstGeom prst="rect">
            <a:avLst/>
          </a:prstGeom>
        </p:spPr>
      </p:pic>
      <p:sp>
        <p:nvSpPr>
          <p:cNvPr id="8" name="Design block 7">
            <a:extLst>
              <a:ext uri="{FF2B5EF4-FFF2-40B4-BE49-F238E27FC236}">
                <a16:creationId xmlns:a16="http://schemas.microsoft.com/office/drawing/2014/main" id="{FA31578F-DDF7-43DE-97C0-64B00D471238}"/>
              </a:ext>
            </a:extLst>
          </p:cNvPr>
          <p:cNvSpPr>
            <a:spLocks noGrp="1"/>
          </p:cNvSpPr>
          <p:nvPr/>
        </p:nvSpPr>
        <p:spPr>
          <a:xfrm>
            <a:off x="304800" y="4705350"/>
            <a:ext cx="3600450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INDUSTRIAL YARD FORKLIFT">
            <a:extLst>
              <a:ext uri="{FF2B5EF4-FFF2-40B4-BE49-F238E27FC236}">
                <a16:creationId xmlns:a16="http://schemas.microsoft.com/office/drawing/2014/main" id="{CF70CA7B-1446-43EF-AC06-9585CC022E3D}"/>
              </a:ext>
            </a:extLst>
          </p:cNvPr>
          <p:cNvSpPr>
            <a:spLocks noGrp="1"/>
          </p:cNvSpPr>
          <p:nvPr/>
        </p:nvSpPr>
        <p:spPr>
          <a:xfrm>
            <a:off x="400050" y="4781074"/>
            <a:ext cx="356235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INDUSTRIAL YARD FORKLIFT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C5A25A-6C7F-425E-991E-15A55864F1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150609" y="1771650"/>
            <a:ext cx="1566682" cy="1485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EF78C50-2CE0-4C51-8779-7E349A669E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962650" y="1857375"/>
            <a:ext cx="1752600" cy="13144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71E2FEC-012D-4816-8F0E-DA532E0B97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4449536" y="3409950"/>
            <a:ext cx="2873829" cy="1295400"/>
          </a:xfrm>
          <a:prstGeom prst="rect">
            <a:avLst/>
          </a:prstGeom>
        </p:spPr>
      </p:pic>
      <p:sp>
        <p:nvSpPr>
          <p:cNvPr id="13" name="Design block 12">
            <a:extLst>
              <a:ext uri="{FF2B5EF4-FFF2-40B4-BE49-F238E27FC236}">
                <a16:creationId xmlns:a16="http://schemas.microsoft.com/office/drawing/2014/main" id="{0BB9654A-06D9-4E53-8D4C-F9A3EE76A59D}"/>
              </a:ext>
            </a:extLst>
          </p:cNvPr>
          <p:cNvSpPr>
            <a:spLocks noGrp="1"/>
          </p:cNvSpPr>
          <p:nvPr/>
        </p:nvSpPr>
        <p:spPr>
          <a:xfrm>
            <a:off x="4057650" y="4705350"/>
            <a:ext cx="3657600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LARGE-REEL HANDLING">
            <a:extLst>
              <a:ext uri="{FF2B5EF4-FFF2-40B4-BE49-F238E27FC236}">
                <a16:creationId xmlns:a16="http://schemas.microsoft.com/office/drawing/2014/main" id="{83E13F35-A8C6-4D3B-A0EC-3B5EC1373B83}"/>
              </a:ext>
            </a:extLst>
          </p:cNvPr>
          <p:cNvSpPr>
            <a:spLocks noGrp="1"/>
          </p:cNvSpPr>
          <p:nvPr/>
        </p:nvSpPr>
        <p:spPr>
          <a:xfrm>
            <a:off x="4152900" y="4781074"/>
            <a:ext cx="356235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LARGE-REEL HANDLING</a:t>
            </a:r>
          </a:p>
        </p:txBody>
      </p:sp>
      <p:sp>
        <p:nvSpPr>
          <p:cNvPr id="15" name="Design block 14">
            <a:extLst>
              <a:ext uri="{FF2B5EF4-FFF2-40B4-BE49-F238E27FC236}">
                <a16:creationId xmlns:a16="http://schemas.microsoft.com/office/drawing/2014/main" id="{FBF9568A-CFB3-4136-8AB1-A119CC212644}"/>
              </a:ext>
            </a:extLst>
          </p:cNvPr>
          <p:cNvSpPr>
            <a:spLocks noGrp="1"/>
          </p:cNvSpPr>
          <p:nvPr/>
        </p:nvSpPr>
        <p:spPr>
          <a:xfrm>
            <a:off x="304800" y="5219700"/>
            <a:ext cx="7410450" cy="19050"/>
          </a:xfrm>
          <a:prstGeom prst="rect">
            <a:avLst/>
          </a:prstGeom>
          <a:solidFill>
            <a:srgbClr val="454649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WASEEM CONSTRUCTION COMPANY">
            <a:extLst>
              <a:ext uri="{FF2B5EF4-FFF2-40B4-BE49-F238E27FC236}">
                <a16:creationId xmlns:a16="http://schemas.microsoft.com/office/drawing/2014/main" id="{0AD76450-DC90-40E5-84A5-87BCA4D9E454}"/>
              </a:ext>
            </a:extLst>
          </p:cNvPr>
          <p:cNvSpPr>
            <a:spLocks noGrp="1"/>
          </p:cNvSpPr>
          <p:nvPr/>
        </p:nvSpPr>
        <p:spPr>
          <a:xfrm>
            <a:off x="304800" y="5357051"/>
            <a:ext cx="409575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17" name="Design block 16">
            <a:extLst>
              <a:ext uri="{FF2B5EF4-FFF2-40B4-BE49-F238E27FC236}">
                <a16:creationId xmlns:a16="http://schemas.microsoft.com/office/drawing/2014/main" id="{139A4DF1-CDD7-4FAE-9F26-BAACB6498147}"/>
              </a:ext>
            </a:extLst>
          </p:cNvPr>
          <p:cNvSpPr>
            <a:spLocks noGrp="1"/>
          </p:cNvSpPr>
          <p:nvPr/>
        </p:nvSpPr>
        <p:spPr>
          <a:xfrm>
            <a:off x="7400925" y="5276850"/>
            <a:ext cx="314325" cy="2095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05">
            <a:extLst>
              <a:ext uri="{FF2B5EF4-FFF2-40B4-BE49-F238E27FC236}">
                <a16:creationId xmlns:a16="http://schemas.microsoft.com/office/drawing/2014/main" id="{0F745942-4FEF-42A7-A1DB-3535C1955D02}"/>
              </a:ext>
            </a:extLst>
          </p:cNvPr>
          <p:cNvSpPr>
            <a:spLocks noGrp="1"/>
          </p:cNvSpPr>
          <p:nvPr/>
        </p:nvSpPr>
        <p:spPr>
          <a:xfrm>
            <a:off x="7496175" y="5348097"/>
            <a:ext cx="219075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04123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esign block 0">
            <a:extLst>
              <a:ext uri="{FF2B5EF4-FFF2-40B4-BE49-F238E27FC236}">
                <a16:creationId xmlns:a16="http://schemas.microsoft.com/office/drawing/2014/main" id="{9D5A4368-E73F-45D5-86BC-4BE9B46FF3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20050" cy="5667375"/>
          </a:xfrm>
          <a:prstGeom prst="rect">
            <a:avLst/>
          </a:prstGeom>
          <a:solidFill>
            <a:srgbClr val="F7F6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WASEEM">
            <a:extLst>
              <a:ext uri="{FF2B5EF4-FFF2-40B4-BE49-F238E27FC236}">
                <a16:creationId xmlns:a16="http://schemas.microsoft.com/office/drawing/2014/main" id="{B1F0D70D-F0F3-4E0A-8E3D-62D2320825E6}"/>
              </a:ext>
            </a:extLst>
          </p:cNvPr>
          <p:cNvSpPr>
            <a:spLocks noGrp="1"/>
          </p:cNvSpPr>
          <p:nvPr/>
        </p:nvSpPr>
        <p:spPr>
          <a:xfrm>
            <a:off x="304800" y="245555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>
              <a:ext uri="{FF2B5EF4-FFF2-40B4-BE49-F238E27FC236}">
                <a16:creationId xmlns:a16="http://schemas.microsoft.com/office/drawing/2014/main" id="{DE3FF013-0554-4B77-BEBB-16460606C7CD}"/>
              </a:ext>
            </a:extLst>
          </p:cNvPr>
          <p:cNvSpPr>
            <a:spLocks noGrp="1"/>
          </p:cNvSpPr>
          <p:nvPr/>
        </p:nvSpPr>
        <p:spPr>
          <a:xfrm>
            <a:off x="314325" y="455581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05 / EQUIPMENT TRANSPORT">
            <a:extLst>
              <a:ext uri="{FF2B5EF4-FFF2-40B4-BE49-F238E27FC236}">
                <a16:creationId xmlns:a16="http://schemas.microsoft.com/office/drawing/2014/main" id="{64891BA6-41B8-431E-B56C-04CCD67BDA55}"/>
              </a:ext>
            </a:extLst>
          </p:cNvPr>
          <p:cNvSpPr>
            <a:spLocks noGrp="1"/>
          </p:cNvSpPr>
          <p:nvPr/>
        </p:nvSpPr>
        <p:spPr>
          <a:xfrm>
            <a:off x="3714750" y="356426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05 / EQUIPMENT TRANSPORT</a:t>
            </a:r>
          </a:p>
        </p:txBody>
      </p:sp>
      <p:sp>
        <p:nvSpPr>
          <p:cNvPr id="5" name="Design block 4">
            <a:extLst>
              <a:ext uri="{FF2B5EF4-FFF2-40B4-BE49-F238E27FC236}">
                <a16:creationId xmlns:a16="http://schemas.microsoft.com/office/drawing/2014/main" id="{7433EAFD-09D9-4036-AEC5-EC274D08EDDE}"/>
              </a:ext>
            </a:extLst>
          </p:cNvPr>
          <p:cNvSpPr>
            <a:spLocks noGrp="1"/>
          </p:cNvSpPr>
          <p:nvPr/>
        </p:nvSpPr>
        <p:spPr>
          <a:xfrm>
            <a:off x="0" y="781050"/>
            <a:ext cx="8020050" cy="1095375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READY FOR THE NEXT MOVE.">
            <a:extLst>
              <a:ext uri="{FF2B5EF4-FFF2-40B4-BE49-F238E27FC236}">
                <a16:creationId xmlns:a16="http://schemas.microsoft.com/office/drawing/2014/main" id="{9271691B-5EE7-486B-B2F6-73EF75B713C4}"/>
              </a:ext>
            </a:extLst>
          </p:cNvPr>
          <p:cNvSpPr>
            <a:spLocks noGrp="1"/>
          </p:cNvSpPr>
          <p:nvPr/>
        </p:nvSpPr>
        <p:spPr>
          <a:xfrm>
            <a:off x="304800" y="1113663"/>
            <a:ext cx="4549080" cy="4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READY FOR THE NEXT MOVE.</a:t>
            </a:r>
          </a:p>
        </p:txBody>
      </p:sp>
      <p:sp>
        <p:nvSpPr>
          <p:cNvPr id="7" name="Loading, transport and truck-mounted lifting equipment.">
            <a:extLst>
              <a:ext uri="{FF2B5EF4-FFF2-40B4-BE49-F238E27FC236}">
                <a16:creationId xmlns:a16="http://schemas.microsoft.com/office/drawing/2014/main" id="{39AA7E80-8515-4DEF-8A4D-5927254798F0}"/>
              </a:ext>
            </a:extLst>
          </p:cNvPr>
          <p:cNvSpPr>
            <a:spLocks noGrp="1"/>
          </p:cNvSpPr>
          <p:nvPr/>
        </p:nvSpPr>
        <p:spPr>
          <a:xfrm>
            <a:off x="314325" y="1581150"/>
            <a:ext cx="73914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Loading, transport and truck-mounted lifting equipment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227658-09F8-4904-B9D3-4177A8773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04800" y="1917192"/>
            <a:ext cx="3600450" cy="20928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27AE2C-383A-4B61-A6EA-7EA21245F9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057649" y="1947672"/>
            <a:ext cx="3657599" cy="2062353"/>
          </a:xfrm>
          <a:prstGeom prst="rect">
            <a:avLst/>
          </a:prstGeom>
        </p:spPr>
      </p:pic>
      <p:sp>
        <p:nvSpPr>
          <p:cNvPr id="10" name="Design block 9">
            <a:extLst>
              <a:ext uri="{FF2B5EF4-FFF2-40B4-BE49-F238E27FC236}">
                <a16:creationId xmlns:a16="http://schemas.microsoft.com/office/drawing/2014/main" id="{6E0D10B0-61EE-4F68-AB0E-29A4DD2384C1}"/>
              </a:ext>
            </a:extLst>
          </p:cNvPr>
          <p:cNvSpPr>
            <a:spLocks noGrp="1"/>
          </p:cNvSpPr>
          <p:nvPr/>
        </p:nvSpPr>
        <p:spPr>
          <a:xfrm>
            <a:off x="304800" y="4057650"/>
            <a:ext cx="3600450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FORKLIFT TRANSPORT">
            <a:extLst>
              <a:ext uri="{FF2B5EF4-FFF2-40B4-BE49-F238E27FC236}">
                <a16:creationId xmlns:a16="http://schemas.microsoft.com/office/drawing/2014/main" id="{878F9E48-36FD-4F26-BCD9-66487415ECF3}"/>
              </a:ext>
            </a:extLst>
          </p:cNvPr>
          <p:cNvSpPr>
            <a:spLocks noGrp="1"/>
          </p:cNvSpPr>
          <p:nvPr/>
        </p:nvSpPr>
        <p:spPr>
          <a:xfrm>
            <a:off x="400050" y="4133374"/>
            <a:ext cx="356235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FORKLIFT TRANSPORT</a:t>
            </a:r>
          </a:p>
        </p:txBody>
      </p:sp>
      <p:sp>
        <p:nvSpPr>
          <p:cNvPr id="12" name="Design block 11">
            <a:extLst>
              <a:ext uri="{FF2B5EF4-FFF2-40B4-BE49-F238E27FC236}">
                <a16:creationId xmlns:a16="http://schemas.microsoft.com/office/drawing/2014/main" id="{9C1201CE-39E2-4035-ACBF-EE9BE68E33E3}"/>
              </a:ext>
            </a:extLst>
          </p:cNvPr>
          <p:cNvSpPr>
            <a:spLocks noGrp="1"/>
          </p:cNvSpPr>
          <p:nvPr/>
        </p:nvSpPr>
        <p:spPr>
          <a:xfrm>
            <a:off x="4057650" y="4057650"/>
            <a:ext cx="3657600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EQUIPMENT ON LOW-BED TRAILER">
            <a:extLst>
              <a:ext uri="{FF2B5EF4-FFF2-40B4-BE49-F238E27FC236}">
                <a16:creationId xmlns:a16="http://schemas.microsoft.com/office/drawing/2014/main" id="{77D255AB-E166-44FA-80DB-B2195E47FBDF}"/>
              </a:ext>
            </a:extLst>
          </p:cNvPr>
          <p:cNvSpPr>
            <a:spLocks noGrp="1"/>
          </p:cNvSpPr>
          <p:nvPr/>
        </p:nvSpPr>
        <p:spPr>
          <a:xfrm>
            <a:off x="4152900" y="4133374"/>
            <a:ext cx="356235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EQUIPMENT ON LOW-BED TRAILER</a:t>
            </a:r>
          </a:p>
        </p:txBody>
      </p:sp>
      <p:sp>
        <p:nvSpPr>
          <p:cNvPr id="15" name="The transport task begins with the equipment, its dimensions">
            <a:extLst>
              <a:ext uri="{FF2B5EF4-FFF2-40B4-BE49-F238E27FC236}">
                <a16:creationId xmlns:a16="http://schemas.microsoft.com/office/drawing/2014/main" id="{D9F147F5-ACC2-434D-AEE5-EE4209238A91}"/>
              </a:ext>
            </a:extLst>
          </p:cNvPr>
          <p:cNvSpPr>
            <a:spLocks noGrp="1"/>
          </p:cNvSpPr>
          <p:nvPr/>
        </p:nvSpPr>
        <p:spPr>
          <a:xfrm>
            <a:off x="574964" y="4470750"/>
            <a:ext cx="7140286" cy="69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626469"/>
                </a:solidFill>
                <a:latin typeface="Arial"/>
                <a:ea typeface="Arial"/>
                <a:cs typeface="Arial"/>
              </a:rPr>
              <a:t>Transport planning starts with equipment dimensions and conditions at the loading and </a:t>
            </a:r>
            <a:r>
              <a:rPr lang="en-US" sz="1350" b="0" dirty="0">
                <a:solidFill>
                  <a:srgbClr val="626469"/>
                </a:solidFill>
                <a:latin typeface="Arial"/>
                <a:ea typeface="Arial"/>
                <a:cs typeface="Arial"/>
              </a:rPr>
              <a:t>     </a:t>
            </a:r>
            <a:r>
              <a:rPr sz="1350" b="0" dirty="0">
                <a:solidFill>
                  <a:srgbClr val="626469"/>
                </a:solidFill>
                <a:latin typeface="Arial"/>
                <a:ea typeface="Arial"/>
                <a:cs typeface="Arial"/>
              </a:rPr>
              <a:t>receiving areas.</a:t>
            </a:r>
          </a:p>
        </p:txBody>
      </p:sp>
      <p:sp>
        <p:nvSpPr>
          <p:cNvPr id="16" name="loading and receiving areas.">
            <a:extLst>
              <a:ext uri="{FF2B5EF4-FFF2-40B4-BE49-F238E27FC236}">
                <a16:creationId xmlns:a16="http://schemas.microsoft.com/office/drawing/2014/main" id="{B1A9E3AE-BBBE-438D-BF2C-7D42F0228A34}"/>
              </a:ext>
            </a:extLst>
          </p:cNvPr>
          <p:cNvSpPr>
            <a:spLocks noGrp="1"/>
          </p:cNvSpPr>
          <p:nvPr/>
        </p:nvSpPr>
        <p:spPr>
          <a:xfrm>
            <a:off x="2857500" y="4659249"/>
            <a:ext cx="1968113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17" name="Design block 16">
            <a:extLst>
              <a:ext uri="{FF2B5EF4-FFF2-40B4-BE49-F238E27FC236}">
                <a16:creationId xmlns:a16="http://schemas.microsoft.com/office/drawing/2014/main" id="{7CC051E2-96D9-4D1C-8D98-16DB222A4352}"/>
              </a:ext>
            </a:extLst>
          </p:cNvPr>
          <p:cNvSpPr>
            <a:spLocks noGrp="1"/>
          </p:cNvSpPr>
          <p:nvPr/>
        </p:nvSpPr>
        <p:spPr>
          <a:xfrm>
            <a:off x="304800" y="5219700"/>
            <a:ext cx="7410450" cy="19050"/>
          </a:xfrm>
          <a:prstGeom prst="rect">
            <a:avLst/>
          </a:prstGeom>
          <a:solidFill>
            <a:srgbClr val="D5D4C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WASEEM CONSTRUCTION COMPANY">
            <a:extLst>
              <a:ext uri="{FF2B5EF4-FFF2-40B4-BE49-F238E27FC236}">
                <a16:creationId xmlns:a16="http://schemas.microsoft.com/office/drawing/2014/main" id="{EF59A3C6-6352-40F5-BCC3-37E9DAFBD2DA}"/>
              </a:ext>
            </a:extLst>
          </p:cNvPr>
          <p:cNvSpPr>
            <a:spLocks noGrp="1"/>
          </p:cNvSpPr>
          <p:nvPr/>
        </p:nvSpPr>
        <p:spPr>
          <a:xfrm>
            <a:off x="304800" y="5357051"/>
            <a:ext cx="409575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19" name="Design block 18">
            <a:extLst>
              <a:ext uri="{FF2B5EF4-FFF2-40B4-BE49-F238E27FC236}">
                <a16:creationId xmlns:a16="http://schemas.microsoft.com/office/drawing/2014/main" id="{871D6754-646E-434C-9F9C-0D2AC793C272}"/>
              </a:ext>
            </a:extLst>
          </p:cNvPr>
          <p:cNvSpPr>
            <a:spLocks noGrp="1"/>
          </p:cNvSpPr>
          <p:nvPr/>
        </p:nvSpPr>
        <p:spPr>
          <a:xfrm>
            <a:off x="7400925" y="5276850"/>
            <a:ext cx="314325" cy="2095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06">
            <a:extLst>
              <a:ext uri="{FF2B5EF4-FFF2-40B4-BE49-F238E27FC236}">
                <a16:creationId xmlns:a16="http://schemas.microsoft.com/office/drawing/2014/main" id="{25D89F37-B397-47BA-B1B2-0B00A8FBB10C}"/>
              </a:ext>
            </a:extLst>
          </p:cNvPr>
          <p:cNvSpPr>
            <a:spLocks noGrp="1"/>
          </p:cNvSpPr>
          <p:nvPr/>
        </p:nvSpPr>
        <p:spPr>
          <a:xfrm>
            <a:off x="7496175" y="5348097"/>
            <a:ext cx="219075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82843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esign block 0">
            <a:extLst>
              <a:ext uri="{FF2B5EF4-FFF2-40B4-BE49-F238E27FC236}">
                <a16:creationId xmlns:a16="http://schemas.microsoft.com/office/drawing/2014/main" id="{EB11457E-AAB8-4ABF-BBA6-B6042C3EBF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20050" cy="5667375"/>
          </a:xfrm>
          <a:prstGeom prst="rect">
            <a:avLst/>
          </a:prstGeom>
          <a:solidFill>
            <a:srgbClr val="191A1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WASEEM">
            <a:extLst>
              <a:ext uri="{FF2B5EF4-FFF2-40B4-BE49-F238E27FC236}">
                <a16:creationId xmlns:a16="http://schemas.microsoft.com/office/drawing/2014/main" id="{B4B84CBD-0801-45B7-8423-CD668929E9A3}"/>
              </a:ext>
            </a:extLst>
          </p:cNvPr>
          <p:cNvSpPr>
            <a:spLocks noGrp="1"/>
          </p:cNvSpPr>
          <p:nvPr/>
        </p:nvSpPr>
        <p:spPr>
          <a:xfrm>
            <a:off x="304800" y="245555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>
              <a:ext uri="{FF2B5EF4-FFF2-40B4-BE49-F238E27FC236}">
                <a16:creationId xmlns:a16="http://schemas.microsoft.com/office/drawing/2014/main" id="{CBD3FF43-4364-4935-AEEF-6135813D4434}"/>
              </a:ext>
            </a:extLst>
          </p:cNvPr>
          <p:cNvSpPr>
            <a:spLocks noGrp="1"/>
          </p:cNvSpPr>
          <p:nvPr/>
        </p:nvSpPr>
        <p:spPr>
          <a:xfrm>
            <a:off x="314325" y="455581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6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6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06 / WATERFRONT OPERATIONS">
            <a:extLst>
              <a:ext uri="{FF2B5EF4-FFF2-40B4-BE49-F238E27FC236}">
                <a16:creationId xmlns:a16="http://schemas.microsoft.com/office/drawing/2014/main" id="{706E1106-CABF-42A7-AA57-732B09719D75}"/>
              </a:ext>
            </a:extLst>
          </p:cNvPr>
          <p:cNvSpPr>
            <a:spLocks noGrp="1"/>
          </p:cNvSpPr>
          <p:nvPr/>
        </p:nvSpPr>
        <p:spPr>
          <a:xfrm>
            <a:off x="3714750" y="356426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06 / WATERFRONT OPERATIONS</a:t>
            </a:r>
          </a:p>
        </p:txBody>
      </p:sp>
      <p:sp>
        <p:nvSpPr>
          <p:cNvPr id="5" name="Design block 4">
            <a:extLst>
              <a:ext uri="{FF2B5EF4-FFF2-40B4-BE49-F238E27FC236}">
                <a16:creationId xmlns:a16="http://schemas.microsoft.com/office/drawing/2014/main" id="{0FCDF9B7-BB78-44D2-AD63-48300C77A25A}"/>
              </a:ext>
            </a:extLst>
          </p:cNvPr>
          <p:cNvSpPr>
            <a:spLocks noGrp="1"/>
          </p:cNvSpPr>
          <p:nvPr/>
        </p:nvSpPr>
        <p:spPr>
          <a:xfrm>
            <a:off x="304800" y="866775"/>
            <a:ext cx="2524125" cy="676275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LIFTING AT">
            <a:extLst>
              <a:ext uri="{FF2B5EF4-FFF2-40B4-BE49-F238E27FC236}">
                <a16:creationId xmlns:a16="http://schemas.microsoft.com/office/drawing/2014/main" id="{25D305D9-F384-40B8-8520-1A85848B69F0}"/>
              </a:ext>
            </a:extLst>
          </p:cNvPr>
          <p:cNvSpPr>
            <a:spLocks noGrp="1"/>
          </p:cNvSpPr>
          <p:nvPr/>
        </p:nvSpPr>
        <p:spPr>
          <a:xfrm>
            <a:off x="428625" y="938213"/>
            <a:ext cx="140470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LIFTING AT</a:t>
            </a:r>
          </a:p>
        </p:txBody>
      </p:sp>
      <p:sp>
        <p:nvSpPr>
          <p:cNvPr id="7" name="THE WATERFRONT.">
            <a:extLst>
              <a:ext uri="{FF2B5EF4-FFF2-40B4-BE49-F238E27FC236}">
                <a16:creationId xmlns:a16="http://schemas.microsoft.com/office/drawing/2014/main" id="{02A741DF-56A4-4952-87E8-FAAAE62A4F9F}"/>
              </a:ext>
            </a:extLst>
          </p:cNvPr>
          <p:cNvSpPr>
            <a:spLocks noGrp="1"/>
          </p:cNvSpPr>
          <p:nvPr/>
        </p:nvSpPr>
        <p:spPr>
          <a:xfrm>
            <a:off x="428625" y="1214438"/>
            <a:ext cx="2396854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THE WATERFRONT.</a:t>
            </a:r>
          </a:p>
        </p:txBody>
      </p:sp>
      <p:sp>
        <p:nvSpPr>
          <p:cNvPr id="8" name="Mobile cranes and cargo handling in port environments.">
            <a:extLst>
              <a:ext uri="{FF2B5EF4-FFF2-40B4-BE49-F238E27FC236}">
                <a16:creationId xmlns:a16="http://schemas.microsoft.com/office/drawing/2014/main" id="{9B45522D-BD27-4630-B85E-789ADD93617F}"/>
              </a:ext>
            </a:extLst>
          </p:cNvPr>
          <p:cNvSpPr>
            <a:spLocks noGrp="1"/>
          </p:cNvSpPr>
          <p:nvPr/>
        </p:nvSpPr>
        <p:spPr>
          <a:xfrm>
            <a:off x="3512127" y="938213"/>
            <a:ext cx="4107873" cy="66198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F7F7F3"/>
                </a:solidFill>
                <a:latin typeface="Arial"/>
                <a:ea typeface="Arial"/>
                <a:cs typeface="Arial"/>
              </a:rPr>
              <a:t>Mobile cranes and cargo handling</a:t>
            </a:r>
          </a:p>
          <a:p>
            <a:pPr algn="l">
              <a:buNone/>
              <a:defRPr sz="14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F7F7F3"/>
                </a:solidFill>
                <a:latin typeface="Arial"/>
                <a:ea typeface="Arial"/>
                <a:cs typeface="Arial"/>
              </a:rPr>
              <a:t>in port environments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1E9ED6-7978-4783-9A2C-0A951F3A7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04800" y="1819275"/>
            <a:ext cx="2381250" cy="2971799"/>
          </a:xfrm>
          <a:prstGeom prst="rect">
            <a:avLst/>
          </a:prstGeom>
        </p:spPr>
      </p:pic>
      <p:sp>
        <p:nvSpPr>
          <p:cNvPr id="10" name="Design block 9">
            <a:extLst>
              <a:ext uri="{FF2B5EF4-FFF2-40B4-BE49-F238E27FC236}">
                <a16:creationId xmlns:a16="http://schemas.microsoft.com/office/drawing/2014/main" id="{A4B4190F-56A1-4D08-98CB-A6564AA4003C}"/>
              </a:ext>
            </a:extLst>
          </p:cNvPr>
          <p:cNvSpPr>
            <a:spLocks noGrp="1"/>
          </p:cNvSpPr>
          <p:nvPr/>
        </p:nvSpPr>
        <p:spPr>
          <a:xfrm>
            <a:off x="304800" y="4800600"/>
            <a:ext cx="2381250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CRANE ARRANGEMENT">
            <a:extLst>
              <a:ext uri="{FF2B5EF4-FFF2-40B4-BE49-F238E27FC236}">
                <a16:creationId xmlns:a16="http://schemas.microsoft.com/office/drawing/2014/main" id="{CE332563-8588-45AE-A60E-2458170002DA}"/>
              </a:ext>
            </a:extLst>
          </p:cNvPr>
          <p:cNvSpPr>
            <a:spLocks noGrp="1"/>
          </p:cNvSpPr>
          <p:nvPr/>
        </p:nvSpPr>
        <p:spPr>
          <a:xfrm>
            <a:off x="400050" y="4876324"/>
            <a:ext cx="232410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CRANE ARRANGEMENT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A2E03F8-CAE1-432F-8BCD-3F4522B8CC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892028" y="1819275"/>
            <a:ext cx="2235994" cy="2981325"/>
          </a:xfrm>
          <a:prstGeom prst="rect">
            <a:avLst/>
          </a:prstGeom>
        </p:spPr>
      </p:pic>
      <p:sp>
        <p:nvSpPr>
          <p:cNvPr id="13" name="Design block 12">
            <a:extLst>
              <a:ext uri="{FF2B5EF4-FFF2-40B4-BE49-F238E27FC236}">
                <a16:creationId xmlns:a16="http://schemas.microsoft.com/office/drawing/2014/main" id="{72B1E692-992D-424C-A288-689F23554ED0}"/>
              </a:ext>
            </a:extLst>
          </p:cNvPr>
          <p:cNvSpPr>
            <a:spLocks noGrp="1"/>
          </p:cNvSpPr>
          <p:nvPr/>
        </p:nvSpPr>
        <p:spPr>
          <a:xfrm>
            <a:off x="2819400" y="4800600"/>
            <a:ext cx="2381250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CARGO LIFTING">
            <a:extLst>
              <a:ext uri="{FF2B5EF4-FFF2-40B4-BE49-F238E27FC236}">
                <a16:creationId xmlns:a16="http://schemas.microsoft.com/office/drawing/2014/main" id="{292FF3DE-5CFD-478F-B93D-EA779B038F66}"/>
              </a:ext>
            </a:extLst>
          </p:cNvPr>
          <p:cNvSpPr>
            <a:spLocks noGrp="1"/>
          </p:cNvSpPr>
          <p:nvPr/>
        </p:nvSpPr>
        <p:spPr>
          <a:xfrm>
            <a:off x="2914650" y="4876324"/>
            <a:ext cx="232410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CARGO LIFTING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718B621-0D04-4131-A85A-E5871C18EB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406628" y="1819275"/>
            <a:ext cx="2235994" cy="2981325"/>
          </a:xfrm>
          <a:prstGeom prst="rect">
            <a:avLst/>
          </a:prstGeom>
        </p:spPr>
      </p:pic>
      <p:sp>
        <p:nvSpPr>
          <p:cNvPr id="16" name="Design block 15">
            <a:extLst>
              <a:ext uri="{FF2B5EF4-FFF2-40B4-BE49-F238E27FC236}">
                <a16:creationId xmlns:a16="http://schemas.microsoft.com/office/drawing/2014/main" id="{80F71117-1BCD-4583-98B4-A656167F7AC1}"/>
              </a:ext>
            </a:extLst>
          </p:cNvPr>
          <p:cNvSpPr>
            <a:spLocks noGrp="1"/>
          </p:cNvSpPr>
          <p:nvPr/>
        </p:nvSpPr>
        <p:spPr>
          <a:xfrm>
            <a:off x="5334000" y="4800600"/>
            <a:ext cx="2381250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PORT-SIDE POSITIONING">
            <a:extLst>
              <a:ext uri="{FF2B5EF4-FFF2-40B4-BE49-F238E27FC236}">
                <a16:creationId xmlns:a16="http://schemas.microsoft.com/office/drawing/2014/main" id="{4AD27A51-E131-4764-AE8E-3C19AA6A0B27}"/>
              </a:ext>
            </a:extLst>
          </p:cNvPr>
          <p:cNvSpPr>
            <a:spLocks noGrp="1"/>
          </p:cNvSpPr>
          <p:nvPr/>
        </p:nvSpPr>
        <p:spPr>
          <a:xfrm>
            <a:off x="5429250" y="4876324"/>
            <a:ext cx="228600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PORT-SIDE POSITIONING</a:t>
            </a:r>
          </a:p>
        </p:txBody>
      </p:sp>
      <p:sp>
        <p:nvSpPr>
          <p:cNvPr id="18" name="Design block 17">
            <a:extLst>
              <a:ext uri="{FF2B5EF4-FFF2-40B4-BE49-F238E27FC236}">
                <a16:creationId xmlns:a16="http://schemas.microsoft.com/office/drawing/2014/main" id="{223F845A-2F74-47FF-A80D-6B97F8291465}"/>
              </a:ext>
            </a:extLst>
          </p:cNvPr>
          <p:cNvSpPr>
            <a:spLocks noGrp="1"/>
          </p:cNvSpPr>
          <p:nvPr/>
        </p:nvSpPr>
        <p:spPr>
          <a:xfrm>
            <a:off x="304800" y="5219700"/>
            <a:ext cx="7410450" cy="19050"/>
          </a:xfrm>
          <a:prstGeom prst="rect">
            <a:avLst/>
          </a:prstGeom>
          <a:solidFill>
            <a:srgbClr val="454649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WASEEM CONSTRUCTION COMPANY">
            <a:extLst>
              <a:ext uri="{FF2B5EF4-FFF2-40B4-BE49-F238E27FC236}">
                <a16:creationId xmlns:a16="http://schemas.microsoft.com/office/drawing/2014/main" id="{B54EB7E1-FE37-4439-A7E4-6548A642189F}"/>
              </a:ext>
            </a:extLst>
          </p:cNvPr>
          <p:cNvSpPr>
            <a:spLocks noGrp="1"/>
          </p:cNvSpPr>
          <p:nvPr/>
        </p:nvSpPr>
        <p:spPr>
          <a:xfrm>
            <a:off x="304800" y="5357051"/>
            <a:ext cx="409575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20" name="Design block 19">
            <a:extLst>
              <a:ext uri="{FF2B5EF4-FFF2-40B4-BE49-F238E27FC236}">
                <a16:creationId xmlns:a16="http://schemas.microsoft.com/office/drawing/2014/main" id="{628D0191-F522-4F27-AFB8-122C8B0560E9}"/>
              </a:ext>
            </a:extLst>
          </p:cNvPr>
          <p:cNvSpPr>
            <a:spLocks noGrp="1"/>
          </p:cNvSpPr>
          <p:nvPr/>
        </p:nvSpPr>
        <p:spPr>
          <a:xfrm>
            <a:off x="7400925" y="5276850"/>
            <a:ext cx="314325" cy="2095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07">
            <a:extLst>
              <a:ext uri="{FF2B5EF4-FFF2-40B4-BE49-F238E27FC236}">
                <a16:creationId xmlns:a16="http://schemas.microsoft.com/office/drawing/2014/main" id="{6C83A8CE-D5B8-4099-AF76-40DDA665E372}"/>
              </a:ext>
            </a:extLst>
          </p:cNvPr>
          <p:cNvSpPr>
            <a:spLocks noGrp="1"/>
          </p:cNvSpPr>
          <p:nvPr/>
        </p:nvSpPr>
        <p:spPr>
          <a:xfrm>
            <a:off x="7496175" y="5348097"/>
            <a:ext cx="219075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9471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esign block 0">
            <a:extLst>
              <a:ext uri="{FF2B5EF4-FFF2-40B4-BE49-F238E27FC236}">
                <a16:creationId xmlns:a16="http://schemas.microsoft.com/office/drawing/2014/main" id="{ACD084BB-D576-4840-9CB3-834FF07F8B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20050" cy="5667375"/>
          </a:xfrm>
          <a:prstGeom prst="rect">
            <a:avLst/>
          </a:prstGeom>
          <a:solidFill>
            <a:srgbClr val="F7F6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WASEEM">
            <a:extLst>
              <a:ext uri="{FF2B5EF4-FFF2-40B4-BE49-F238E27FC236}">
                <a16:creationId xmlns:a16="http://schemas.microsoft.com/office/drawing/2014/main" id="{3BE9E37E-E881-4F42-BCB9-B281B04DE230}"/>
              </a:ext>
            </a:extLst>
          </p:cNvPr>
          <p:cNvSpPr>
            <a:spLocks noGrp="1"/>
          </p:cNvSpPr>
          <p:nvPr/>
        </p:nvSpPr>
        <p:spPr>
          <a:xfrm>
            <a:off x="304800" y="245555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>
              <a:ext uri="{FF2B5EF4-FFF2-40B4-BE49-F238E27FC236}">
                <a16:creationId xmlns:a16="http://schemas.microsoft.com/office/drawing/2014/main" id="{1704F344-46CE-46CF-ACA9-661F6E832D51}"/>
              </a:ext>
            </a:extLst>
          </p:cNvPr>
          <p:cNvSpPr>
            <a:spLocks noGrp="1"/>
          </p:cNvSpPr>
          <p:nvPr/>
        </p:nvSpPr>
        <p:spPr>
          <a:xfrm>
            <a:off x="314325" y="455581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07 / PORT STRUCTURES &amp; ACCESS">
            <a:extLst>
              <a:ext uri="{FF2B5EF4-FFF2-40B4-BE49-F238E27FC236}">
                <a16:creationId xmlns:a16="http://schemas.microsoft.com/office/drawing/2014/main" id="{7B012F01-62F0-45DA-B1AD-CA271A9B53EE}"/>
              </a:ext>
            </a:extLst>
          </p:cNvPr>
          <p:cNvSpPr>
            <a:spLocks noGrp="1"/>
          </p:cNvSpPr>
          <p:nvPr/>
        </p:nvSpPr>
        <p:spPr>
          <a:xfrm>
            <a:off x="3714750" y="356426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07 / PORT STRUCTURES &amp; ACCESS</a:t>
            </a:r>
          </a:p>
        </p:txBody>
      </p:sp>
      <p:sp>
        <p:nvSpPr>
          <p:cNvPr id="5" name="Design block 4">
            <a:extLst>
              <a:ext uri="{FF2B5EF4-FFF2-40B4-BE49-F238E27FC236}">
                <a16:creationId xmlns:a16="http://schemas.microsoft.com/office/drawing/2014/main" id="{173BF0F0-5287-482A-9509-D19B2021FD50}"/>
              </a:ext>
            </a:extLst>
          </p:cNvPr>
          <p:cNvSpPr>
            <a:spLocks noGrp="1"/>
          </p:cNvSpPr>
          <p:nvPr/>
        </p:nvSpPr>
        <p:spPr>
          <a:xfrm>
            <a:off x="0" y="714375"/>
            <a:ext cx="2400300" cy="49530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PORT">
            <a:extLst>
              <a:ext uri="{FF2B5EF4-FFF2-40B4-BE49-F238E27FC236}">
                <a16:creationId xmlns:a16="http://schemas.microsoft.com/office/drawing/2014/main" id="{176AFA99-CCF9-4E32-8021-4985BE337604}"/>
              </a:ext>
            </a:extLst>
          </p:cNvPr>
          <p:cNvSpPr>
            <a:spLocks noGrp="1"/>
          </p:cNvSpPr>
          <p:nvPr/>
        </p:nvSpPr>
        <p:spPr>
          <a:xfrm>
            <a:off x="295275" y="1132142"/>
            <a:ext cx="915474" cy="4133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PORT</a:t>
            </a:r>
          </a:p>
        </p:txBody>
      </p:sp>
      <p:sp>
        <p:nvSpPr>
          <p:cNvPr id="7" name="ENVIRONMENTS">
            <a:extLst>
              <a:ext uri="{FF2B5EF4-FFF2-40B4-BE49-F238E27FC236}">
                <a16:creationId xmlns:a16="http://schemas.microsoft.com/office/drawing/2014/main" id="{5569E24E-5194-4EBB-B48C-CECDB529417F}"/>
              </a:ext>
            </a:extLst>
          </p:cNvPr>
          <p:cNvSpPr>
            <a:spLocks noGrp="1"/>
          </p:cNvSpPr>
          <p:nvPr/>
        </p:nvSpPr>
        <p:spPr>
          <a:xfrm>
            <a:off x="295275" y="1537145"/>
            <a:ext cx="1860152" cy="3067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ENVIRONMENTS</a:t>
            </a:r>
          </a:p>
        </p:txBody>
      </p:sp>
      <p:sp>
        <p:nvSpPr>
          <p:cNvPr id="8" name="Design block 7">
            <a:extLst>
              <a:ext uri="{FF2B5EF4-FFF2-40B4-BE49-F238E27FC236}">
                <a16:creationId xmlns:a16="http://schemas.microsoft.com/office/drawing/2014/main" id="{0D5B3628-38E7-41D4-AF29-31B3C0E66A2B}"/>
              </a:ext>
            </a:extLst>
          </p:cNvPr>
          <p:cNvSpPr>
            <a:spLocks noGrp="1"/>
          </p:cNvSpPr>
          <p:nvPr/>
        </p:nvSpPr>
        <p:spPr>
          <a:xfrm>
            <a:off x="314325" y="2047875"/>
            <a:ext cx="428625" cy="19050"/>
          </a:xfrm>
          <a:prstGeom prst="rect">
            <a:avLst/>
          </a:prstGeom>
          <a:solidFill>
            <a:srgbClr val="191A1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STRUCTURES AT">
            <a:extLst>
              <a:ext uri="{FF2B5EF4-FFF2-40B4-BE49-F238E27FC236}">
                <a16:creationId xmlns:a16="http://schemas.microsoft.com/office/drawing/2014/main" id="{F9A7E82E-C600-49A4-B7F8-6DFD1CC4F46C}"/>
              </a:ext>
            </a:extLst>
          </p:cNvPr>
          <p:cNvSpPr>
            <a:spLocks noGrp="1"/>
          </p:cNvSpPr>
          <p:nvPr/>
        </p:nvSpPr>
        <p:spPr>
          <a:xfrm>
            <a:off x="314325" y="2304669"/>
            <a:ext cx="1373758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STRUCTURES AT</a:t>
            </a:r>
          </a:p>
        </p:txBody>
      </p:sp>
      <p:sp>
        <p:nvSpPr>
          <p:cNvPr id="10" name="SCALE.">
            <a:extLst>
              <a:ext uri="{FF2B5EF4-FFF2-40B4-BE49-F238E27FC236}">
                <a16:creationId xmlns:a16="http://schemas.microsoft.com/office/drawing/2014/main" id="{41C4EADA-5CB8-4AE7-B052-C977D10E3A2B}"/>
              </a:ext>
            </a:extLst>
          </p:cNvPr>
          <p:cNvSpPr>
            <a:spLocks noGrp="1"/>
          </p:cNvSpPr>
          <p:nvPr/>
        </p:nvSpPr>
        <p:spPr>
          <a:xfrm>
            <a:off x="314325" y="2533269"/>
            <a:ext cx="637356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SCALE.</a:t>
            </a:r>
          </a:p>
        </p:txBody>
      </p:sp>
      <p:sp>
        <p:nvSpPr>
          <p:cNvPr id="11" name="Gantry structures and elevated">
            <a:extLst>
              <a:ext uri="{FF2B5EF4-FFF2-40B4-BE49-F238E27FC236}">
                <a16:creationId xmlns:a16="http://schemas.microsoft.com/office/drawing/2014/main" id="{D3116118-2F7E-4325-8D17-CC88413E5484}"/>
              </a:ext>
            </a:extLst>
          </p:cNvPr>
          <p:cNvSpPr>
            <a:spLocks noGrp="1"/>
          </p:cNvSpPr>
          <p:nvPr/>
        </p:nvSpPr>
        <p:spPr>
          <a:xfrm>
            <a:off x="314325" y="3238500"/>
            <a:ext cx="1914525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Gantry structures and elevated equipment in waterfront working environments.</a:t>
            </a:r>
          </a:p>
        </p:txBody>
      </p:sp>
      <p:sp>
        <p:nvSpPr>
          <p:cNvPr id="12" name="equipment pictured in waterfront">
            <a:extLst>
              <a:ext uri="{FF2B5EF4-FFF2-40B4-BE49-F238E27FC236}">
                <a16:creationId xmlns:a16="http://schemas.microsoft.com/office/drawing/2014/main" id="{AB765515-EE87-4205-984F-A3E2C02C9E9A}"/>
              </a:ext>
            </a:extLst>
          </p:cNvPr>
          <p:cNvSpPr>
            <a:spLocks noGrp="1"/>
          </p:cNvSpPr>
          <p:nvPr/>
        </p:nvSpPr>
        <p:spPr>
          <a:xfrm>
            <a:off x="314325" y="3420999"/>
            <a:ext cx="2228812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13" name="working environments.">
            <a:extLst>
              <a:ext uri="{FF2B5EF4-FFF2-40B4-BE49-F238E27FC236}">
                <a16:creationId xmlns:a16="http://schemas.microsoft.com/office/drawing/2014/main" id="{D1E858D3-9561-411D-997F-1D13AC657FF7}"/>
              </a:ext>
            </a:extLst>
          </p:cNvPr>
          <p:cNvSpPr>
            <a:spLocks noGrp="1"/>
          </p:cNvSpPr>
          <p:nvPr/>
        </p:nvSpPr>
        <p:spPr>
          <a:xfrm>
            <a:off x="314325" y="3578162"/>
            <a:ext cx="1600867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31A1DEA-7F4E-4BA8-ADFA-0DA042CBE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47950" y="779907"/>
            <a:ext cx="2476500" cy="4029742"/>
          </a:xfrm>
          <a:prstGeom prst="rect">
            <a:avLst/>
          </a:prstGeom>
        </p:spPr>
      </p:pic>
      <p:sp>
        <p:nvSpPr>
          <p:cNvPr id="15" name="Design block 14">
            <a:extLst>
              <a:ext uri="{FF2B5EF4-FFF2-40B4-BE49-F238E27FC236}">
                <a16:creationId xmlns:a16="http://schemas.microsoft.com/office/drawing/2014/main" id="{2A9DE172-F735-47A0-B681-93224F2313BA}"/>
              </a:ext>
            </a:extLst>
          </p:cNvPr>
          <p:cNvSpPr>
            <a:spLocks noGrp="1"/>
          </p:cNvSpPr>
          <p:nvPr/>
        </p:nvSpPr>
        <p:spPr>
          <a:xfrm>
            <a:off x="2647950" y="4772025"/>
            <a:ext cx="2476500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STRUCTURE &amp; WORKING AREA">
            <a:extLst>
              <a:ext uri="{FF2B5EF4-FFF2-40B4-BE49-F238E27FC236}">
                <a16:creationId xmlns:a16="http://schemas.microsoft.com/office/drawing/2014/main" id="{02926D39-C4CB-488B-842D-205A284AB571}"/>
              </a:ext>
            </a:extLst>
          </p:cNvPr>
          <p:cNvSpPr>
            <a:spLocks noGrp="1"/>
          </p:cNvSpPr>
          <p:nvPr/>
        </p:nvSpPr>
        <p:spPr>
          <a:xfrm>
            <a:off x="2743200" y="4847749"/>
            <a:ext cx="2390775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STRUCTURE &amp; WORKING AREA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6DF6081-C654-45CC-B1B5-2CE60F308D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229225" y="779907"/>
            <a:ext cx="2476500" cy="3992118"/>
          </a:xfrm>
          <a:prstGeom prst="rect">
            <a:avLst/>
          </a:prstGeom>
        </p:spPr>
      </p:pic>
      <p:sp>
        <p:nvSpPr>
          <p:cNvPr id="18" name="Design block 17">
            <a:extLst>
              <a:ext uri="{FF2B5EF4-FFF2-40B4-BE49-F238E27FC236}">
                <a16:creationId xmlns:a16="http://schemas.microsoft.com/office/drawing/2014/main" id="{2DF76F84-0EB7-4345-9C30-01F57DD147C4}"/>
              </a:ext>
            </a:extLst>
          </p:cNvPr>
          <p:cNvSpPr>
            <a:spLocks noGrp="1"/>
          </p:cNvSpPr>
          <p:nvPr/>
        </p:nvSpPr>
        <p:spPr>
          <a:xfrm>
            <a:off x="5229225" y="4772025"/>
            <a:ext cx="2476500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EQUIPMENT &amp; ACCESS">
            <a:extLst>
              <a:ext uri="{FF2B5EF4-FFF2-40B4-BE49-F238E27FC236}">
                <a16:creationId xmlns:a16="http://schemas.microsoft.com/office/drawing/2014/main" id="{24D6F9D1-D92D-4922-918D-705D24AEAB1B}"/>
              </a:ext>
            </a:extLst>
          </p:cNvPr>
          <p:cNvSpPr>
            <a:spLocks noGrp="1"/>
          </p:cNvSpPr>
          <p:nvPr/>
        </p:nvSpPr>
        <p:spPr>
          <a:xfrm>
            <a:off x="5324475" y="4847749"/>
            <a:ext cx="2390775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EQUIPMENT &amp; ACCESS</a:t>
            </a:r>
          </a:p>
        </p:txBody>
      </p:sp>
      <p:sp>
        <p:nvSpPr>
          <p:cNvPr id="20" name="Design block 19">
            <a:extLst>
              <a:ext uri="{FF2B5EF4-FFF2-40B4-BE49-F238E27FC236}">
                <a16:creationId xmlns:a16="http://schemas.microsoft.com/office/drawing/2014/main" id="{B1DBAAFE-507A-4207-9673-055847A18011}"/>
              </a:ext>
            </a:extLst>
          </p:cNvPr>
          <p:cNvSpPr>
            <a:spLocks noGrp="1"/>
          </p:cNvSpPr>
          <p:nvPr/>
        </p:nvSpPr>
        <p:spPr>
          <a:xfrm>
            <a:off x="304800" y="5219700"/>
            <a:ext cx="7410450" cy="19050"/>
          </a:xfrm>
          <a:prstGeom prst="rect">
            <a:avLst/>
          </a:prstGeom>
          <a:solidFill>
            <a:srgbClr val="D5D4C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WASEEM CONSTRUCTION COMPANY">
            <a:extLst>
              <a:ext uri="{FF2B5EF4-FFF2-40B4-BE49-F238E27FC236}">
                <a16:creationId xmlns:a16="http://schemas.microsoft.com/office/drawing/2014/main" id="{50CFFAC1-8FD3-4C8C-92FC-D49F69DB0F80}"/>
              </a:ext>
            </a:extLst>
          </p:cNvPr>
          <p:cNvSpPr>
            <a:spLocks noGrp="1"/>
          </p:cNvSpPr>
          <p:nvPr/>
        </p:nvSpPr>
        <p:spPr>
          <a:xfrm>
            <a:off x="304800" y="5357051"/>
            <a:ext cx="409575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22" name="Design block 21">
            <a:extLst>
              <a:ext uri="{FF2B5EF4-FFF2-40B4-BE49-F238E27FC236}">
                <a16:creationId xmlns:a16="http://schemas.microsoft.com/office/drawing/2014/main" id="{88647159-D393-4751-A8B0-AC17B22A06F0}"/>
              </a:ext>
            </a:extLst>
          </p:cNvPr>
          <p:cNvSpPr>
            <a:spLocks noGrp="1"/>
          </p:cNvSpPr>
          <p:nvPr/>
        </p:nvSpPr>
        <p:spPr>
          <a:xfrm>
            <a:off x="7400925" y="5276850"/>
            <a:ext cx="314325" cy="2095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08">
            <a:extLst>
              <a:ext uri="{FF2B5EF4-FFF2-40B4-BE49-F238E27FC236}">
                <a16:creationId xmlns:a16="http://schemas.microsoft.com/office/drawing/2014/main" id="{8F948182-5255-4240-800D-0DB441DEBB0D}"/>
              </a:ext>
            </a:extLst>
          </p:cNvPr>
          <p:cNvSpPr>
            <a:spLocks noGrp="1"/>
          </p:cNvSpPr>
          <p:nvPr/>
        </p:nvSpPr>
        <p:spPr>
          <a:xfrm>
            <a:off x="7496175" y="5348097"/>
            <a:ext cx="219075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90803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Design block 0">
            <a:extLst>
              <a:ext uri="{FF2B5EF4-FFF2-40B4-BE49-F238E27FC236}">
                <a16:creationId xmlns:a16="http://schemas.microsoft.com/office/drawing/2014/main" id="{73C103C2-BBB0-44E9-86E7-FF3276283D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20050" cy="5667375"/>
          </a:xfrm>
          <a:prstGeom prst="rect">
            <a:avLst/>
          </a:prstGeom>
          <a:solidFill>
            <a:srgbClr val="F7F6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WASEEM">
            <a:extLst>
              <a:ext uri="{FF2B5EF4-FFF2-40B4-BE49-F238E27FC236}">
                <a16:creationId xmlns:a16="http://schemas.microsoft.com/office/drawing/2014/main" id="{F4A6C85C-C477-4C30-B052-72736CC83B6E}"/>
              </a:ext>
            </a:extLst>
          </p:cNvPr>
          <p:cNvSpPr>
            <a:spLocks noGrp="1"/>
          </p:cNvSpPr>
          <p:nvPr/>
        </p:nvSpPr>
        <p:spPr>
          <a:xfrm>
            <a:off x="304800" y="245555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>
              <a:ext uri="{FF2B5EF4-FFF2-40B4-BE49-F238E27FC236}">
                <a16:creationId xmlns:a16="http://schemas.microsoft.com/office/drawing/2014/main" id="{C6157CA2-3968-400E-97A0-E05CE17BE4C5}"/>
              </a:ext>
            </a:extLst>
          </p:cNvPr>
          <p:cNvSpPr>
            <a:spLocks noGrp="1"/>
          </p:cNvSpPr>
          <p:nvPr/>
        </p:nvSpPr>
        <p:spPr>
          <a:xfrm>
            <a:off x="314325" y="455581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07 / PORT STRUCTURES &amp; ACCESS">
            <a:extLst>
              <a:ext uri="{FF2B5EF4-FFF2-40B4-BE49-F238E27FC236}">
                <a16:creationId xmlns:a16="http://schemas.microsoft.com/office/drawing/2014/main" id="{CCA34FC1-0D2F-443D-837C-C96DABE026C6}"/>
              </a:ext>
            </a:extLst>
          </p:cNvPr>
          <p:cNvSpPr>
            <a:spLocks noGrp="1"/>
          </p:cNvSpPr>
          <p:nvPr/>
        </p:nvSpPr>
        <p:spPr>
          <a:xfrm>
            <a:off x="3714750" y="356426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07 / PORT STRUCTURES &amp; ACCESS</a:t>
            </a:r>
          </a:p>
        </p:txBody>
      </p:sp>
      <p:sp>
        <p:nvSpPr>
          <p:cNvPr id="5" name="Design block 4">
            <a:extLst>
              <a:ext uri="{FF2B5EF4-FFF2-40B4-BE49-F238E27FC236}">
                <a16:creationId xmlns:a16="http://schemas.microsoft.com/office/drawing/2014/main" id="{A60DEBC4-2615-45E8-B7C9-69D6CC02AB19}"/>
              </a:ext>
            </a:extLst>
          </p:cNvPr>
          <p:cNvSpPr>
            <a:spLocks noGrp="1"/>
          </p:cNvSpPr>
          <p:nvPr/>
        </p:nvSpPr>
        <p:spPr>
          <a:xfrm>
            <a:off x="0" y="714375"/>
            <a:ext cx="2400300" cy="49530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PORT">
            <a:extLst>
              <a:ext uri="{FF2B5EF4-FFF2-40B4-BE49-F238E27FC236}">
                <a16:creationId xmlns:a16="http://schemas.microsoft.com/office/drawing/2014/main" id="{727E5D60-5FCC-4768-83A2-D4838C7D6D23}"/>
              </a:ext>
            </a:extLst>
          </p:cNvPr>
          <p:cNvSpPr>
            <a:spLocks noGrp="1"/>
          </p:cNvSpPr>
          <p:nvPr/>
        </p:nvSpPr>
        <p:spPr>
          <a:xfrm>
            <a:off x="295275" y="1132142"/>
            <a:ext cx="915474" cy="4133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PORT</a:t>
            </a:r>
          </a:p>
        </p:txBody>
      </p:sp>
      <p:sp>
        <p:nvSpPr>
          <p:cNvPr id="7" name="ENVIRONMENTS">
            <a:extLst>
              <a:ext uri="{FF2B5EF4-FFF2-40B4-BE49-F238E27FC236}">
                <a16:creationId xmlns:a16="http://schemas.microsoft.com/office/drawing/2014/main" id="{2E4142C2-9998-4C3B-861C-2668459B272C}"/>
              </a:ext>
            </a:extLst>
          </p:cNvPr>
          <p:cNvSpPr>
            <a:spLocks noGrp="1"/>
          </p:cNvSpPr>
          <p:nvPr/>
        </p:nvSpPr>
        <p:spPr>
          <a:xfrm>
            <a:off x="295275" y="1537145"/>
            <a:ext cx="1860152" cy="3067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ENVIRONMENTS</a:t>
            </a:r>
          </a:p>
        </p:txBody>
      </p:sp>
      <p:sp>
        <p:nvSpPr>
          <p:cNvPr id="8" name="Design block 7">
            <a:extLst>
              <a:ext uri="{FF2B5EF4-FFF2-40B4-BE49-F238E27FC236}">
                <a16:creationId xmlns:a16="http://schemas.microsoft.com/office/drawing/2014/main" id="{6076C718-E51A-4ED5-951E-4730057346A6}"/>
              </a:ext>
            </a:extLst>
          </p:cNvPr>
          <p:cNvSpPr>
            <a:spLocks noGrp="1"/>
          </p:cNvSpPr>
          <p:nvPr/>
        </p:nvSpPr>
        <p:spPr>
          <a:xfrm>
            <a:off x="314325" y="2047875"/>
            <a:ext cx="428625" cy="19050"/>
          </a:xfrm>
          <a:prstGeom prst="rect">
            <a:avLst/>
          </a:prstGeom>
          <a:solidFill>
            <a:srgbClr val="191A1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ACCESS IN CONTEXT.">
            <a:extLst>
              <a:ext uri="{FF2B5EF4-FFF2-40B4-BE49-F238E27FC236}">
                <a16:creationId xmlns:a16="http://schemas.microsoft.com/office/drawing/2014/main" id="{6A0AD18E-0416-4815-9B2B-699EEF16670F}"/>
              </a:ext>
            </a:extLst>
          </p:cNvPr>
          <p:cNvSpPr>
            <a:spLocks noGrp="1"/>
          </p:cNvSpPr>
          <p:nvPr/>
        </p:nvSpPr>
        <p:spPr>
          <a:xfrm>
            <a:off x="314325" y="2304669"/>
            <a:ext cx="1729532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ACCESS IN CONTEXT.</a:t>
            </a:r>
          </a:p>
        </p:txBody>
      </p:sp>
      <p:sp>
        <p:nvSpPr>
          <p:cNvPr id="10" name="Gantry structures and elevated">
            <a:extLst>
              <a:ext uri="{FF2B5EF4-FFF2-40B4-BE49-F238E27FC236}">
                <a16:creationId xmlns:a16="http://schemas.microsoft.com/office/drawing/2014/main" id="{C421E601-3CF4-4C4B-A944-A01CC5AB8D52}"/>
              </a:ext>
            </a:extLst>
          </p:cNvPr>
          <p:cNvSpPr>
            <a:spLocks noGrp="1"/>
          </p:cNvSpPr>
          <p:nvPr/>
        </p:nvSpPr>
        <p:spPr>
          <a:xfrm>
            <a:off x="314325" y="3238500"/>
            <a:ext cx="1914525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Gantry structures and elevated equipment in waterfront working environments.</a:t>
            </a:r>
          </a:p>
        </p:txBody>
      </p:sp>
      <p:sp>
        <p:nvSpPr>
          <p:cNvPr id="11" name="equipment pictured in waterfront">
            <a:extLst>
              <a:ext uri="{FF2B5EF4-FFF2-40B4-BE49-F238E27FC236}">
                <a16:creationId xmlns:a16="http://schemas.microsoft.com/office/drawing/2014/main" id="{4BED0319-2011-4C5B-B061-0FDB042A4F03}"/>
              </a:ext>
            </a:extLst>
          </p:cNvPr>
          <p:cNvSpPr>
            <a:spLocks noGrp="1"/>
          </p:cNvSpPr>
          <p:nvPr/>
        </p:nvSpPr>
        <p:spPr>
          <a:xfrm>
            <a:off x="314325" y="3420999"/>
            <a:ext cx="2228812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12" name="working environments.">
            <a:extLst>
              <a:ext uri="{FF2B5EF4-FFF2-40B4-BE49-F238E27FC236}">
                <a16:creationId xmlns:a16="http://schemas.microsoft.com/office/drawing/2014/main" id="{EF9006C6-91CE-4C02-A10D-E8FC27293422}"/>
              </a:ext>
            </a:extLst>
          </p:cNvPr>
          <p:cNvSpPr>
            <a:spLocks noGrp="1"/>
          </p:cNvSpPr>
          <p:nvPr/>
        </p:nvSpPr>
        <p:spPr>
          <a:xfrm>
            <a:off x="314325" y="3578162"/>
            <a:ext cx="1600867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A008E43-FBF9-4940-963A-DD7C8D8B7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47950" y="1163637"/>
            <a:ext cx="2476500" cy="3608387"/>
          </a:xfrm>
          <a:prstGeom prst="rect">
            <a:avLst/>
          </a:prstGeom>
        </p:spPr>
      </p:pic>
      <p:sp>
        <p:nvSpPr>
          <p:cNvPr id="14" name="Design block 13">
            <a:extLst>
              <a:ext uri="{FF2B5EF4-FFF2-40B4-BE49-F238E27FC236}">
                <a16:creationId xmlns:a16="http://schemas.microsoft.com/office/drawing/2014/main" id="{5EF84ADC-0738-47D0-B7B2-C37EFED1CBE3}"/>
              </a:ext>
            </a:extLst>
          </p:cNvPr>
          <p:cNvSpPr>
            <a:spLocks noGrp="1"/>
          </p:cNvSpPr>
          <p:nvPr/>
        </p:nvSpPr>
        <p:spPr>
          <a:xfrm>
            <a:off x="2647950" y="4772025"/>
            <a:ext cx="2476500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STRUCTURE &amp; WORKING AREA">
            <a:extLst>
              <a:ext uri="{FF2B5EF4-FFF2-40B4-BE49-F238E27FC236}">
                <a16:creationId xmlns:a16="http://schemas.microsoft.com/office/drawing/2014/main" id="{C5FFE3DE-AA9B-447E-9DCE-7385B1F62CA9}"/>
              </a:ext>
            </a:extLst>
          </p:cNvPr>
          <p:cNvSpPr>
            <a:spLocks noGrp="1"/>
          </p:cNvSpPr>
          <p:nvPr/>
        </p:nvSpPr>
        <p:spPr>
          <a:xfrm>
            <a:off x="2743200" y="4847749"/>
            <a:ext cx="2390775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STRUCTURE &amp; WORKING AREA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1AAC808-8606-4376-BD59-AD3EBAED0D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229225" y="1177491"/>
            <a:ext cx="2476500" cy="3627437"/>
          </a:xfrm>
          <a:prstGeom prst="rect">
            <a:avLst/>
          </a:prstGeom>
        </p:spPr>
      </p:pic>
      <p:sp>
        <p:nvSpPr>
          <p:cNvPr id="17" name="Design block 16">
            <a:extLst>
              <a:ext uri="{FF2B5EF4-FFF2-40B4-BE49-F238E27FC236}">
                <a16:creationId xmlns:a16="http://schemas.microsoft.com/office/drawing/2014/main" id="{F1CC5F1A-D900-424D-8226-06C60D9AB9D1}"/>
              </a:ext>
            </a:extLst>
          </p:cNvPr>
          <p:cNvSpPr>
            <a:spLocks noGrp="1"/>
          </p:cNvSpPr>
          <p:nvPr/>
        </p:nvSpPr>
        <p:spPr>
          <a:xfrm>
            <a:off x="5229225" y="4772025"/>
            <a:ext cx="2476500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EQUIPMENT &amp; ACCESS">
            <a:extLst>
              <a:ext uri="{FF2B5EF4-FFF2-40B4-BE49-F238E27FC236}">
                <a16:creationId xmlns:a16="http://schemas.microsoft.com/office/drawing/2014/main" id="{9A5A0D94-F120-4A1A-B546-3403DEF712DF}"/>
              </a:ext>
            </a:extLst>
          </p:cNvPr>
          <p:cNvSpPr>
            <a:spLocks noGrp="1"/>
          </p:cNvSpPr>
          <p:nvPr/>
        </p:nvSpPr>
        <p:spPr>
          <a:xfrm>
            <a:off x="5324475" y="4847749"/>
            <a:ext cx="2390775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EQUIPMENT &amp; ACCESS</a:t>
            </a:r>
          </a:p>
        </p:txBody>
      </p:sp>
      <p:sp>
        <p:nvSpPr>
          <p:cNvPr id="19" name="Design block 18">
            <a:extLst>
              <a:ext uri="{FF2B5EF4-FFF2-40B4-BE49-F238E27FC236}">
                <a16:creationId xmlns:a16="http://schemas.microsoft.com/office/drawing/2014/main" id="{D3BFBCC0-D5E3-4AF1-BE56-EACD26D39C58}"/>
              </a:ext>
            </a:extLst>
          </p:cNvPr>
          <p:cNvSpPr>
            <a:spLocks noGrp="1"/>
          </p:cNvSpPr>
          <p:nvPr/>
        </p:nvSpPr>
        <p:spPr>
          <a:xfrm>
            <a:off x="304800" y="5219700"/>
            <a:ext cx="7410450" cy="19050"/>
          </a:xfrm>
          <a:prstGeom prst="rect">
            <a:avLst/>
          </a:prstGeom>
          <a:solidFill>
            <a:srgbClr val="D5D4C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WASEEM CONSTRUCTION COMPANY">
            <a:extLst>
              <a:ext uri="{FF2B5EF4-FFF2-40B4-BE49-F238E27FC236}">
                <a16:creationId xmlns:a16="http://schemas.microsoft.com/office/drawing/2014/main" id="{DCFFEE77-DBA1-41E7-90BE-0E5054D34BCE}"/>
              </a:ext>
            </a:extLst>
          </p:cNvPr>
          <p:cNvSpPr>
            <a:spLocks noGrp="1"/>
          </p:cNvSpPr>
          <p:nvPr/>
        </p:nvSpPr>
        <p:spPr>
          <a:xfrm>
            <a:off x="304800" y="5357051"/>
            <a:ext cx="409575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21" name="Design block 20">
            <a:extLst>
              <a:ext uri="{FF2B5EF4-FFF2-40B4-BE49-F238E27FC236}">
                <a16:creationId xmlns:a16="http://schemas.microsoft.com/office/drawing/2014/main" id="{625BEE1C-0DBC-4D2B-BF8F-603D4923F8C1}"/>
              </a:ext>
            </a:extLst>
          </p:cNvPr>
          <p:cNvSpPr>
            <a:spLocks noGrp="1"/>
          </p:cNvSpPr>
          <p:nvPr/>
        </p:nvSpPr>
        <p:spPr>
          <a:xfrm>
            <a:off x="7400925" y="5276850"/>
            <a:ext cx="314325" cy="2095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09">
            <a:extLst>
              <a:ext uri="{FF2B5EF4-FFF2-40B4-BE49-F238E27FC236}">
                <a16:creationId xmlns:a16="http://schemas.microsoft.com/office/drawing/2014/main" id="{4586014E-5EDE-45F9-934F-2B9C679BFA8C}"/>
              </a:ext>
            </a:extLst>
          </p:cNvPr>
          <p:cNvSpPr>
            <a:spLocks noGrp="1"/>
          </p:cNvSpPr>
          <p:nvPr/>
        </p:nvSpPr>
        <p:spPr>
          <a:xfrm>
            <a:off x="7496175" y="5348097"/>
            <a:ext cx="219075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74749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esign block 0">
            <a:extLst>
              <a:ext uri="{FF2B5EF4-FFF2-40B4-BE49-F238E27FC236}">
                <a16:creationId xmlns:a16="http://schemas.microsoft.com/office/drawing/2014/main" id="{3C0DFE54-7E61-4EB0-A9FB-83CBFC81AF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20050" cy="5667375"/>
          </a:xfrm>
          <a:prstGeom prst="rect">
            <a:avLst/>
          </a:prstGeom>
          <a:solidFill>
            <a:srgbClr val="191A1C"/>
          </a:solidFill>
          <a:ln w="0"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2" name="WASEEM">
            <a:extLst>
              <a:ext uri="{FF2B5EF4-FFF2-40B4-BE49-F238E27FC236}">
                <a16:creationId xmlns:a16="http://schemas.microsoft.com/office/drawing/2014/main" id="{7336FA5A-EE84-4F59-8AEB-092F1F62EF8D}"/>
              </a:ext>
            </a:extLst>
          </p:cNvPr>
          <p:cNvSpPr>
            <a:spLocks noGrp="1"/>
          </p:cNvSpPr>
          <p:nvPr/>
        </p:nvSpPr>
        <p:spPr>
          <a:xfrm>
            <a:off x="304800" y="245555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>
              <a:ext uri="{FF2B5EF4-FFF2-40B4-BE49-F238E27FC236}">
                <a16:creationId xmlns:a16="http://schemas.microsoft.com/office/drawing/2014/main" id="{8D3F535E-2D4A-4A66-B39E-B153391A0806}"/>
              </a:ext>
            </a:extLst>
          </p:cNvPr>
          <p:cNvSpPr>
            <a:spLocks noGrp="1"/>
          </p:cNvSpPr>
          <p:nvPr/>
        </p:nvSpPr>
        <p:spPr>
          <a:xfrm>
            <a:off x="314325" y="455581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6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6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08 / HEAVY CARGO">
            <a:extLst>
              <a:ext uri="{FF2B5EF4-FFF2-40B4-BE49-F238E27FC236}">
                <a16:creationId xmlns:a16="http://schemas.microsoft.com/office/drawing/2014/main" id="{3F324A14-EDC1-4EFA-8933-F89EE79BC66A}"/>
              </a:ext>
            </a:extLst>
          </p:cNvPr>
          <p:cNvSpPr>
            <a:spLocks noGrp="1"/>
          </p:cNvSpPr>
          <p:nvPr/>
        </p:nvSpPr>
        <p:spPr>
          <a:xfrm>
            <a:off x="3714750" y="356426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08 / HEAVY CARGO</a:t>
            </a:r>
          </a:p>
        </p:txBody>
      </p:sp>
      <p:sp>
        <p:nvSpPr>
          <p:cNvPr id="5" name="MOVEMENT AT SCALE.">
            <a:extLst>
              <a:ext uri="{FF2B5EF4-FFF2-40B4-BE49-F238E27FC236}">
                <a16:creationId xmlns:a16="http://schemas.microsoft.com/office/drawing/2014/main" id="{6AA90D4F-593F-4C4F-B9D3-8B7E2DDCEB6B}"/>
              </a:ext>
            </a:extLst>
          </p:cNvPr>
          <p:cNvSpPr>
            <a:spLocks noGrp="1"/>
          </p:cNvSpPr>
          <p:nvPr/>
        </p:nvSpPr>
        <p:spPr>
          <a:xfrm>
            <a:off x="304800" y="819531"/>
            <a:ext cx="3765603" cy="453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MOVEMENT AT SCALE.</a:t>
            </a:r>
          </a:p>
        </p:txBody>
      </p:sp>
      <p:sp>
        <p:nvSpPr>
          <p:cNvPr id="6" name="Covered loads and oversized cargo on multi-axle transport eq">
            <a:extLst>
              <a:ext uri="{FF2B5EF4-FFF2-40B4-BE49-F238E27FC236}">
                <a16:creationId xmlns:a16="http://schemas.microsoft.com/office/drawing/2014/main" id="{E1D63305-DC64-4AD2-ADC2-3A4CF52BA1E7}"/>
              </a:ext>
            </a:extLst>
          </p:cNvPr>
          <p:cNvSpPr>
            <a:spLocks noGrp="1"/>
          </p:cNvSpPr>
          <p:nvPr/>
        </p:nvSpPr>
        <p:spPr>
          <a:xfrm>
            <a:off x="314325" y="1352550"/>
            <a:ext cx="73914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Covered loads and oversized cargo on multi-axle trailers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320028-A3A8-4960-AC80-23543838F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5446" y="1620982"/>
            <a:ext cx="2703609" cy="1541318"/>
          </a:xfrm>
          <a:prstGeom prst="rect">
            <a:avLst/>
          </a:prstGeom>
        </p:spPr>
      </p:pic>
      <p:sp>
        <p:nvSpPr>
          <p:cNvPr id="8" name="COVERED CARGO">
            <a:extLst>
              <a:ext uri="{FF2B5EF4-FFF2-40B4-BE49-F238E27FC236}">
                <a16:creationId xmlns:a16="http://schemas.microsoft.com/office/drawing/2014/main" id="{E718DC36-B826-4F88-93E4-3182FA842F47}"/>
              </a:ext>
            </a:extLst>
          </p:cNvPr>
          <p:cNvSpPr>
            <a:spLocks noGrp="1"/>
          </p:cNvSpPr>
          <p:nvPr/>
        </p:nvSpPr>
        <p:spPr>
          <a:xfrm>
            <a:off x="1133475" y="3257549"/>
            <a:ext cx="3333750" cy="23812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38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F7F7F3"/>
                </a:solidFill>
                <a:latin typeface="Arial"/>
                <a:ea typeface="Arial"/>
                <a:cs typeface="Arial"/>
              </a:rPr>
              <a:t>COVERED CARGO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663F273-FF6C-4942-BC04-CB26198E78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596871" y="1562100"/>
            <a:ext cx="2607733" cy="1600200"/>
          </a:xfrm>
          <a:prstGeom prst="rect">
            <a:avLst/>
          </a:prstGeom>
        </p:spPr>
      </p:pic>
      <p:sp>
        <p:nvSpPr>
          <p:cNvPr id="10" name="MULTI-AXLE TRAILER">
            <a:extLst>
              <a:ext uri="{FF2B5EF4-FFF2-40B4-BE49-F238E27FC236}">
                <a16:creationId xmlns:a16="http://schemas.microsoft.com/office/drawing/2014/main" id="{A55FA9E9-6E57-420E-870A-17B689BAA99F}"/>
              </a:ext>
            </a:extLst>
          </p:cNvPr>
          <p:cNvSpPr>
            <a:spLocks noGrp="1"/>
          </p:cNvSpPr>
          <p:nvPr/>
        </p:nvSpPr>
        <p:spPr>
          <a:xfrm>
            <a:off x="5152399" y="3248025"/>
            <a:ext cx="31242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38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F7F7F3"/>
                </a:solidFill>
                <a:latin typeface="Arial"/>
                <a:ea typeface="Arial"/>
                <a:cs typeface="Arial"/>
              </a:rPr>
              <a:t>MULTI-AXLE TRAILER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BEEEF6F-F28C-47E8-AD47-1E6EF7C528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15446" y="3448050"/>
            <a:ext cx="2703609" cy="1466850"/>
          </a:xfrm>
          <a:prstGeom prst="rect">
            <a:avLst/>
          </a:prstGeom>
        </p:spPr>
      </p:pic>
      <p:sp>
        <p:nvSpPr>
          <p:cNvPr id="12" name="OVERSIZED MOVEMENT">
            <a:extLst>
              <a:ext uri="{FF2B5EF4-FFF2-40B4-BE49-F238E27FC236}">
                <a16:creationId xmlns:a16="http://schemas.microsoft.com/office/drawing/2014/main" id="{80AF2A5C-35A8-4DFE-BD7C-A18A9A81DEB1}"/>
              </a:ext>
            </a:extLst>
          </p:cNvPr>
          <p:cNvSpPr>
            <a:spLocks noGrp="1"/>
          </p:cNvSpPr>
          <p:nvPr/>
        </p:nvSpPr>
        <p:spPr>
          <a:xfrm>
            <a:off x="1184563" y="5010149"/>
            <a:ext cx="3282661" cy="16192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38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F7F7F3"/>
                </a:solidFill>
                <a:latin typeface="Arial"/>
                <a:ea typeface="Arial"/>
                <a:cs typeface="Arial"/>
              </a:rPr>
              <a:t>OVERSIZED MOVEMENT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A87A975-C4AC-48E5-87B5-19C2ECEB6A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4591050" y="3448050"/>
            <a:ext cx="2613554" cy="1466850"/>
          </a:xfrm>
          <a:prstGeom prst="rect">
            <a:avLst/>
          </a:prstGeom>
        </p:spPr>
      </p:pic>
      <p:sp>
        <p:nvSpPr>
          <p:cNvPr id="14" name="HEAVY TRANSPORT CONFIGURATION">
            <a:extLst>
              <a:ext uri="{FF2B5EF4-FFF2-40B4-BE49-F238E27FC236}">
                <a16:creationId xmlns:a16="http://schemas.microsoft.com/office/drawing/2014/main" id="{19BA65FB-D8C6-4148-B959-8C7D80662B5B}"/>
              </a:ext>
            </a:extLst>
          </p:cNvPr>
          <p:cNvSpPr>
            <a:spLocks noGrp="1"/>
          </p:cNvSpPr>
          <p:nvPr/>
        </p:nvSpPr>
        <p:spPr>
          <a:xfrm>
            <a:off x="4668981" y="5010149"/>
            <a:ext cx="2750993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38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F7F7F3"/>
                </a:solidFill>
                <a:latin typeface="Arial"/>
                <a:ea typeface="Arial"/>
                <a:cs typeface="Arial"/>
              </a:rPr>
              <a:t>HEAVY TRANSPORT CONFIGURATION</a:t>
            </a:r>
          </a:p>
        </p:txBody>
      </p:sp>
      <p:sp>
        <p:nvSpPr>
          <p:cNvPr id="15" name="Design block 14">
            <a:extLst>
              <a:ext uri="{FF2B5EF4-FFF2-40B4-BE49-F238E27FC236}">
                <a16:creationId xmlns:a16="http://schemas.microsoft.com/office/drawing/2014/main" id="{210D0F3F-80CE-4CA1-8849-83EFB1190902}"/>
              </a:ext>
            </a:extLst>
          </p:cNvPr>
          <p:cNvSpPr>
            <a:spLocks noGrp="1"/>
          </p:cNvSpPr>
          <p:nvPr/>
        </p:nvSpPr>
        <p:spPr>
          <a:xfrm>
            <a:off x="304800" y="5219700"/>
            <a:ext cx="7410450" cy="19050"/>
          </a:xfrm>
          <a:prstGeom prst="rect">
            <a:avLst/>
          </a:prstGeom>
          <a:solidFill>
            <a:srgbClr val="454649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WASEEM CONSTRUCTION COMPANY">
            <a:extLst>
              <a:ext uri="{FF2B5EF4-FFF2-40B4-BE49-F238E27FC236}">
                <a16:creationId xmlns:a16="http://schemas.microsoft.com/office/drawing/2014/main" id="{86AB3F5A-0FAB-4C66-AA60-FC285AAEA4A0}"/>
              </a:ext>
            </a:extLst>
          </p:cNvPr>
          <p:cNvSpPr>
            <a:spLocks noGrp="1"/>
          </p:cNvSpPr>
          <p:nvPr/>
        </p:nvSpPr>
        <p:spPr>
          <a:xfrm>
            <a:off x="304800" y="5357051"/>
            <a:ext cx="409575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17" name="Design block 16">
            <a:extLst>
              <a:ext uri="{FF2B5EF4-FFF2-40B4-BE49-F238E27FC236}">
                <a16:creationId xmlns:a16="http://schemas.microsoft.com/office/drawing/2014/main" id="{A604D668-FFB8-49DB-A70E-9E84274D325F}"/>
              </a:ext>
            </a:extLst>
          </p:cNvPr>
          <p:cNvSpPr>
            <a:spLocks noGrp="1"/>
          </p:cNvSpPr>
          <p:nvPr/>
        </p:nvSpPr>
        <p:spPr>
          <a:xfrm>
            <a:off x="7400925" y="5276850"/>
            <a:ext cx="314325" cy="2095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10">
            <a:extLst>
              <a:ext uri="{FF2B5EF4-FFF2-40B4-BE49-F238E27FC236}">
                <a16:creationId xmlns:a16="http://schemas.microsoft.com/office/drawing/2014/main" id="{4FF8E52C-C249-4299-9125-3D2062FD0E2D}"/>
              </a:ext>
            </a:extLst>
          </p:cNvPr>
          <p:cNvSpPr>
            <a:spLocks noGrp="1"/>
          </p:cNvSpPr>
          <p:nvPr/>
        </p:nvSpPr>
        <p:spPr>
          <a:xfrm>
            <a:off x="7496175" y="5348097"/>
            <a:ext cx="219075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39225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esign block 0">
            <a:extLst>
              <a:ext uri="{FF2B5EF4-FFF2-40B4-BE49-F238E27FC236}">
                <a16:creationId xmlns:a16="http://schemas.microsoft.com/office/drawing/2014/main" id="{8627336E-0F52-400A-AD5F-FFA49B3C94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20050" cy="5667375"/>
          </a:xfrm>
          <a:prstGeom prst="rect">
            <a:avLst/>
          </a:prstGeom>
          <a:solidFill>
            <a:srgbClr val="F7F6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WASEEM">
            <a:extLst>
              <a:ext uri="{FF2B5EF4-FFF2-40B4-BE49-F238E27FC236}">
                <a16:creationId xmlns:a16="http://schemas.microsoft.com/office/drawing/2014/main" id="{CC247862-3238-4050-998D-8979E34E44D9}"/>
              </a:ext>
            </a:extLst>
          </p:cNvPr>
          <p:cNvSpPr>
            <a:spLocks noGrp="1"/>
          </p:cNvSpPr>
          <p:nvPr/>
        </p:nvSpPr>
        <p:spPr>
          <a:xfrm>
            <a:off x="304800" y="245555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>
              <a:ext uri="{FF2B5EF4-FFF2-40B4-BE49-F238E27FC236}">
                <a16:creationId xmlns:a16="http://schemas.microsoft.com/office/drawing/2014/main" id="{E7B84B68-7575-4196-8903-C6F3A0D8F34D}"/>
              </a:ext>
            </a:extLst>
          </p:cNvPr>
          <p:cNvSpPr>
            <a:spLocks noGrp="1"/>
          </p:cNvSpPr>
          <p:nvPr/>
        </p:nvSpPr>
        <p:spPr>
          <a:xfrm>
            <a:off x="314325" y="455581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09 / SITE ACCESS">
            <a:extLst>
              <a:ext uri="{FF2B5EF4-FFF2-40B4-BE49-F238E27FC236}">
                <a16:creationId xmlns:a16="http://schemas.microsoft.com/office/drawing/2014/main" id="{4697C106-E223-492F-B008-5A6FCDEA5500}"/>
              </a:ext>
            </a:extLst>
          </p:cNvPr>
          <p:cNvSpPr>
            <a:spLocks noGrp="1"/>
          </p:cNvSpPr>
          <p:nvPr/>
        </p:nvSpPr>
        <p:spPr>
          <a:xfrm>
            <a:off x="3714750" y="356426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09 / SITE ACCESS</a:t>
            </a:r>
          </a:p>
        </p:txBody>
      </p:sp>
      <p:sp>
        <p:nvSpPr>
          <p:cNvPr id="5" name="Design block 4">
            <a:extLst>
              <a:ext uri="{FF2B5EF4-FFF2-40B4-BE49-F238E27FC236}">
                <a16:creationId xmlns:a16="http://schemas.microsoft.com/office/drawing/2014/main" id="{FF0D3ADD-2F0D-4699-BC97-B256610A7DB7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2781300" cy="4943475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REACH THE">
            <a:extLst>
              <a:ext uri="{FF2B5EF4-FFF2-40B4-BE49-F238E27FC236}">
                <a16:creationId xmlns:a16="http://schemas.microsoft.com/office/drawing/2014/main" id="{FC315D04-7BAE-4FC5-95D3-D715E692B5DD}"/>
              </a:ext>
            </a:extLst>
          </p:cNvPr>
          <p:cNvSpPr>
            <a:spLocks noGrp="1"/>
          </p:cNvSpPr>
          <p:nvPr/>
        </p:nvSpPr>
        <p:spPr>
          <a:xfrm>
            <a:off x="304800" y="1103567"/>
            <a:ext cx="1817736" cy="4133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REACH THE</a:t>
            </a:r>
          </a:p>
        </p:txBody>
      </p:sp>
      <p:sp>
        <p:nvSpPr>
          <p:cNvPr id="7" name="WORKING">
            <a:extLst>
              <a:ext uri="{FF2B5EF4-FFF2-40B4-BE49-F238E27FC236}">
                <a16:creationId xmlns:a16="http://schemas.microsoft.com/office/drawing/2014/main" id="{C81F66FF-A348-4BF1-8B57-4700EFD83C4E}"/>
              </a:ext>
            </a:extLst>
          </p:cNvPr>
          <p:cNvSpPr>
            <a:spLocks noGrp="1"/>
          </p:cNvSpPr>
          <p:nvPr/>
        </p:nvSpPr>
        <p:spPr>
          <a:xfrm>
            <a:off x="304800" y="1455992"/>
            <a:ext cx="1555045" cy="4133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WORKING</a:t>
            </a:r>
          </a:p>
        </p:txBody>
      </p:sp>
      <p:sp>
        <p:nvSpPr>
          <p:cNvPr id="8" name="AREA.">
            <a:extLst>
              <a:ext uri="{FF2B5EF4-FFF2-40B4-BE49-F238E27FC236}">
                <a16:creationId xmlns:a16="http://schemas.microsoft.com/office/drawing/2014/main" id="{A256C937-77D7-423C-AC00-9E12A325410A}"/>
              </a:ext>
            </a:extLst>
          </p:cNvPr>
          <p:cNvSpPr>
            <a:spLocks noGrp="1"/>
          </p:cNvSpPr>
          <p:nvPr/>
        </p:nvSpPr>
        <p:spPr>
          <a:xfrm>
            <a:off x="304800" y="1808417"/>
            <a:ext cx="1013947" cy="4133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AREA.</a:t>
            </a:r>
          </a:p>
        </p:txBody>
      </p:sp>
      <p:sp>
        <p:nvSpPr>
          <p:cNvPr id="9" name="Design block 8">
            <a:extLst>
              <a:ext uri="{FF2B5EF4-FFF2-40B4-BE49-F238E27FC236}">
                <a16:creationId xmlns:a16="http://schemas.microsoft.com/office/drawing/2014/main" id="{6D4505E1-BBDA-4614-A862-351267B4E446}"/>
              </a:ext>
            </a:extLst>
          </p:cNvPr>
          <p:cNvSpPr>
            <a:spLocks noGrp="1"/>
          </p:cNvSpPr>
          <p:nvPr/>
        </p:nvSpPr>
        <p:spPr>
          <a:xfrm>
            <a:off x="314325" y="2390775"/>
            <a:ext cx="457200" cy="19050"/>
          </a:xfrm>
          <a:prstGeom prst="rect">
            <a:avLst/>
          </a:prstGeom>
          <a:solidFill>
            <a:srgbClr val="191A1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Scissor lifts and boom lifts support access">
            <a:extLst>
              <a:ext uri="{FF2B5EF4-FFF2-40B4-BE49-F238E27FC236}">
                <a16:creationId xmlns:a16="http://schemas.microsoft.com/office/drawing/2014/main" id="{A20A4A5F-EDDC-49DB-9594-25C05C57DA04}"/>
              </a:ext>
            </a:extLst>
          </p:cNvPr>
          <p:cNvSpPr>
            <a:spLocks noGrp="1"/>
          </p:cNvSpPr>
          <p:nvPr/>
        </p:nvSpPr>
        <p:spPr>
          <a:xfrm>
            <a:off x="314325" y="2647950"/>
            <a:ext cx="2295525" cy="1466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Scissor lifts and boom lifts provide access to elevated working areas, indoors and outdoors.</a:t>
            </a:r>
          </a:p>
        </p:txBody>
      </p:sp>
      <p:sp>
        <p:nvSpPr>
          <p:cNvPr id="11" name="to elevated working areas. These">
            <a:extLst>
              <a:ext uri="{FF2B5EF4-FFF2-40B4-BE49-F238E27FC236}">
                <a16:creationId xmlns:a16="http://schemas.microsoft.com/office/drawing/2014/main" id="{30FBFCC3-53A9-49E4-BC6C-3593788D36A2}"/>
              </a:ext>
            </a:extLst>
          </p:cNvPr>
          <p:cNvSpPr>
            <a:spLocks noGrp="1"/>
          </p:cNvSpPr>
          <p:nvPr/>
        </p:nvSpPr>
        <p:spPr>
          <a:xfrm>
            <a:off x="314325" y="2797683"/>
            <a:ext cx="2490578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12" name="photographs show equipment in indoor">
            <a:extLst>
              <a:ext uri="{FF2B5EF4-FFF2-40B4-BE49-F238E27FC236}">
                <a16:creationId xmlns:a16="http://schemas.microsoft.com/office/drawing/2014/main" id="{58265E9A-15C5-46C1-A9F5-BD843275C3E5}"/>
              </a:ext>
            </a:extLst>
          </p:cNvPr>
          <p:cNvSpPr>
            <a:spLocks noGrp="1"/>
          </p:cNvSpPr>
          <p:nvPr/>
        </p:nvSpPr>
        <p:spPr>
          <a:xfrm>
            <a:off x="314325" y="2969133"/>
            <a:ext cx="2891161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13" name="and outdoor settings.">
            <a:extLst>
              <a:ext uri="{FF2B5EF4-FFF2-40B4-BE49-F238E27FC236}">
                <a16:creationId xmlns:a16="http://schemas.microsoft.com/office/drawing/2014/main" id="{E3D5ADC7-17C8-4DA5-8D41-FED2609F18DE}"/>
              </a:ext>
            </a:extLst>
          </p:cNvPr>
          <p:cNvSpPr>
            <a:spLocks noGrp="1"/>
          </p:cNvSpPr>
          <p:nvPr/>
        </p:nvSpPr>
        <p:spPr>
          <a:xfrm>
            <a:off x="314325" y="3140583"/>
            <a:ext cx="1627937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BAEEDE4-9ED4-48AE-8C1D-6018A4426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057525" y="1301383"/>
            <a:ext cx="2238375" cy="3413492"/>
          </a:xfrm>
          <a:prstGeom prst="rect">
            <a:avLst/>
          </a:prstGeom>
        </p:spPr>
      </p:pic>
      <p:sp>
        <p:nvSpPr>
          <p:cNvPr id="15" name="Design block 14">
            <a:extLst>
              <a:ext uri="{FF2B5EF4-FFF2-40B4-BE49-F238E27FC236}">
                <a16:creationId xmlns:a16="http://schemas.microsoft.com/office/drawing/2014/main" id="{C14E7D93-9522-412E-B870-7F5E870B88E4}"/>
              </a:ext>
            </a:extLst>
          </p:cNvPr>
          <p:cNvSpPr>
            <a:spLocks noGrp="1"/>
          </p:cNvSpPr>
          <p:nvPr/>
        </p:nvSpPr>
        <p:spPr>
          <a:xfrm>
            <a:off x="3057525" y="4714875"/>
            <a:ext cx="2238375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SCISSOR LIFT">
            <a:extLst>
              <a:ext uri="{FF2B5EF4-FFF2-40B4-BE49-F238E27FC236}">
                <a16:creationId xmlns:a16="http://schemas.microsoft.com/office/drawing/2014/main" id="{A6814C1E-F986-4F6E-8A90-D689E6A82889}"/>
              </a:ext>
            </a:extLst>
          </p:cNvPr>
          <p:cNvSpPr>
            <a:spLocks noGrp="1"/>
          </p:cNvSpPr>
          <p:nvPr/>
        </p:nvSpPr>
        <p:spPr>
          <a:xfrm>
            <a:off x="3152775" y="4790599"/>
            <a:ext cx="222885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SCISSOR LIFT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91694B1-3CF8-40A5-BFDB-B5CD90BB81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476875" y="1289049"/>
            <a:ext cx="2238375" cy="3425825"/>
          </a:xfrm>
          <a:prstGeom prst="rect">
            <a:avLst/>
          </a:prstGeom>
        </p:spPr>
      </p:pic>
      <p:sp>
        <p:nvSpPr>
          <p:cNvPr id="18" name="Design block 17">
            <a:extLst>
              <a:ext uri="{FF2B5EF4-FFF2-40B4-BE49-F238E27FC236}">
                <a16:creationId xmlns:a16="http://schemas.microsoft.com/office/drawing/2014/main" id="{310A46E7-A582-4323-AE4E-D1AE06D15243}"/>
              </a:ext>
            </a:extLst>
          </p:cNvPr>
          <p:cNvSpPr>
            <a:spLocks noGrp="1"/>
          </p:cNvSpPr>
          <p:nvPr/>
        </p:nvSpPr>
        <p:spPr>
          <a:xfrm>
            <a:off x="5476875" y="4714875"/>
            <a:ext cx="2238375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ARTICULATING BOOM LIFT">
            <a:extLst>
              <a:ext uri="{FF2B5EF4-FFF2-40B4-BE49-F238E27FC236}">
                <a16:creationId xmlns:a16="http://schemas.microsoft.com/office/drawing/2014/main" id="{733A558D-D2F6-4F36-B385-2F975779020E}"/>
              </a:ext>
            </a:extLst>
          </p:cNvPr>
          <p:cNvSpPr>
            <a:spLocks noGrp="1"/>
          </p:cNvSpPr>
          <p:nvPr/>
        </p:nvSpPr>
        <p:spPr>
          <a:xfrm>
            <a:off x="5572125" y="4790599"/>
            <a:ext cx="2143125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ARTICULATING BOOM LIFT</a:t>
            </a:r>
          </a:p>
        </p:txBody>
      </p:sp>
      <p:sp>
        <p:nvSpPr>
          <p:cNvPr id="20" name="Design block 19">
            <a:extLst>
              <a:ext uri="{FF2B5EF4-FFF2-40B4-BE49-F238E27FC236}">
                <a16:creationId xmlns:a16="http://schemas.microsoft.com/office/drawing/2014/main" id="{F0B1E5D3-7DBC-4A13-AF53-A46BCF4469F7}"/>
              </a:ext>
            </a:extLst>
          </p:cNvPr>
          <p:cNvSpPr>
            <a:spLocks noGrp="1"/>
          </p:cNvSpPr>
          <p:nvPr/>
        </p:nvSpPr>
        <p:spPr>
          <a:xfrm>
            <a:off x="304800" y="5219700"/>
            <a:ext cx="7410450" cy="19050"/>
          </a:xfrm>
          <a:prstGeom prst="rect">
            <a:avLst/>
          </a:prstGeom>
          <a:solidFill>
            <a:srgbClr val="D5D4C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WASEEM CONSTRUCTION COMPANY">
            <a:extLst>
              <a:ext uri="{FF2B5EF4-FFF2-40B4-BE49-F238E27FC236}">
                <a16:creationId xmlns:a16="http://schemas.microsoft.com/office/drawing/2014/main" id="{4FA190B4-2D20-4B72-8641-7B7DE48387E9}"/>
              </a:ext>
            </a:extLst>
          </p:cNvPr>
          <p:cNvSpPr>
            <a:spLocks noGrp="1"/>
          </p:cNvSpPr>
          <p:nvPr/>
        </p:nvSpPr>
        <p:spPr>
          <a:xfrm>
            <a:off x="304800" y="5357051"/>
            <a:ext cx="409575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22" name="Design block 21">
            <a:extLst>
              <a:ext uri="{FF2B5EF4-FFF2-40B4-BE49-F238E27FC236}">
                <a16:creationId xmlns:a16="http://schemas.microsoft.com/office/drawing/2014/main" id="{3E100942-9779-4305-8CC3-F13E2DDE66E0}"/>
              </a:ext>
            </a:extLst>
          </p:cNvPr>
          <p:cNvSpPr>
            <a:spLocks noGrp="1"/>
          </p:cNvSpPr>
          <p:nvPr/>
        </p:nvSpPr>
        <p:spPr>
          <a:xfrm>
            <a:off x="7400925" y="5276850"/>
            <a:ext cx="314325" cy="2095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11">
            <a:extLst>
              <a:ext uri="{FF2B5EF4-FFF2-40B4-BE49-F238E27FC236}">
                <a16:creationId xmlns:a16="http://schemas.microsoft.com/office/drawing/2014/main" id="{DDDCFA0F-180D-4AD7-AE70-BBA9DF5780CC}"/>
              </a:ext>
            </a:extLst>
          </p:cNvPr>
          <p:cNvSpPr>
            <a:spLocks noGrp="1"/>
          </p:cNvSpPr>
          <p:nvPr/>
        </p:nvSpPr>
        <p:spPr>
          <a:xfrm>
            <a:off x="7496175" y="5348097"/>
            <a:ext cx="219075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10378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esign block 0">
            <a:extLst>
              <a:ext uri="{FF2B5EF4-FFF2-40B4-BE49-F238E27FC236}">
                <a16:creationId xmlns:a16="http://schemas.microsoft.com/office/drawing/2014/main" id="{637B98AB-7F9E-42DA-B6AD-FCF411D5D8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20050" cy="5667375"/>
          </a:xfrm>
          <a:prstGeom prst="rect">
            <a:avLst/>
          </a:prstGeom>
          <a:solidFill>
            <a:srgbClr val="191A1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WASEEM">
            <a:extLst>
              <a:ext uri="{FF2B5EF4-FFF2-40B4-BE49-F238E27FC236}">
                <a16:creationId xmlns:a16="http://schemas.microsoft.com/office/drawing/2014/main" id="{3E2FA937-2C9A-4F27-A549-F001C44B4548}"/>
              </a:ext>
            </a:extLst>
          </p:cNvPr>
          <p:cNvSpPr>
            <a:spLocks noGrp="1"/>
          </p:cNvSpPr>
          <p:nvPr/>
        </p:nvSpPr>
        <p:spPr>
          <a:xfrm>
            <a:off x="304800" y="245555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>
              <a:ext uri="{FF2B5EF4-FFF2-40B4-BE49-F238E27FC236}">
                <a16:creationId xmlns:a16="http://schemas.microsoft.com/office/drawing/2014/main" id="{7854ECB0-EE76-47B3-B532-B91016CA9A6C}"/>
              </a:ext>
            </a:extLst>
          </p:cNvPr>
          <p:cNvSpPr>
            <a:spLocks noGrp="1"/>
          </p:cNvSpPr>
          <p:nvPr/>
        </p:nvSpPr>
        <p:spPr>
          <a:xfrm>
            <a:off x="314325" y="455581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6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6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10 / SITE MACHINERY">
            <a:extLst>
              <a:ext uri="{FF2B5EF4-FFF2-40B4-BE49-F238E27FC236}">
                <a16:creationId xmlns:a16="http://schemas.microsoft.com/office/drawing/2014/main" id="{A5C1BE06-D6DB-4E48-B610-BB1D3EEA6021}"/>
              </a:ext>
            </a:extLst>
          </p:cNvPr>
          <p:cNvSpPr>
            <a:spLocks noGrp="1"/>
          </p:cNvSpPr>
          <p:nvPr/>
        </p:nvSpPr>
        <p:spPr>
          <a:xfrm>
            <a:off x="3714750" y="356426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10 / SITE MACHINERY</a:t>
            </a:r>
          </a:p>
        </p:txBody>
      </p:sp>
      <p:sp>
        <p:nvSpPr>
          <p:cNvPr id="5" name="DIFFERENT TASKS.">
            <a:extLst>
              <a:ext uri="{FF2B5EF4-FFF2-40B4-BE49-F238E27FC236}">
                <a16:creationId xmlns:a16="http://schemas.microsoft.com/office/drawing/2014/main" id="{943454EA-655C-4FB8-9B4C-B291985167B3}"/>
              </a:ext>
            </a:extLst>
          </p:cNvPr>
          <p:cNvSpPr>
            <a:spLocks noGrp="1"/>
          </p:cNvSpPr>
          <p:nvPr/>
        </p:nvSpPr>
        <p:spPr>
          <a:xfrm>
            <a:off x="304800" y="829056"/>
            <a:ext cx="3189852" cy="453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DIFFERENT TASKS.</a:t>
            </a:r>
          </a:p>
        </p:txBody>
      </p:sp>
      <p:sp>
        <p:nvSpPr>
          <p:cNvPr id="6" name="PRACTICAL EQUIPMENT.">
            <a:extLst>
              <a:ext uri="{FF2B5EF4-FFF2-40B4-BE49-F238E27FC236}">
                <a16:creationId xmlns:a16="http://schemas.microsoft.com/office/drawing/2014/main" id="{95097FDD-829A-4299-909E-29B2E39C2AE7}"/>
              </a:ext>
            </a:extLst>
          </p:cNvPr>
          <p:cNvSpPr>
            <a:spLocks noGrp="1"/>
          </p:cNvSpPr>
          <p:nvPr/>
        </p:nvSpPr>
        <p:spPr>
          <a:xfrm>
            <a:off x="304800" y="1219581"/>
            <a:ext cx="4071426" cy="453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PRACTICAL EQUIPMENT.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D10EA9-0027-40F2-BEC4-C63C5BBF7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14325" y="1895475"/>
            <a:ext cx="2351485" cy="2771775"/>
          </a:xfrm>
          <a:prstGeom prst="rect">
            <a:avLst/>
          </a:prstGeom>
        </p:spPr>
      </p:pic>
      <p:sp>
        <p:nvSpPr>
          <p:cNvPr id="8" name="Design block 7">
            <a:extLst>
              <a:ext uri="{FF2B5EF4-FFF2-40B4-BE49-F238E27FC236}">
                <a16:creationId xmlns:a16="http://schemas.microsoft.com/office/drawing/2014/main" id="{01E997F0-4524-468E-A5DD-3272FA8D66AE}"/>
              </a:ext>
            </a:extLst>
          </p:cNvPr>
          <p:cNvSpPr>
            <a:spLocks noGrp="1"/>
          </p:cNvSpPr>
          <p:nvPr/>
        </p:nvSpPr>
        <p:spPr>
          <a:xfrm>
            <a:off x="304800" y="4667250"/>
            <a:ext cx="2381250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9" name="TELEHANDLER ON SITE">
            <a:extLst>
              <a:ext uri="{FF2B5EF4-FFF2-40B4-BE49-F238E27FC236}">
                <a16:creationId xmlns:a16="http://schemas.microsoft.com/office/drawing/2014/main" id="{2A6D1A82-8BF5-42F1-B4DB-09F9F8924D70}"/>
              </a:ext>
            </a:extLst>
          </p:cNvPr>
          <p:cNvSpPr>
            <a:spLocks noGrp="1"/>
          </p:cNvSpPr>
          <p:nvPr/>
        </p:nvSpPr>
        <p:spPr>
          <a:xfrm>
            <a:off x="554182" y="4704874"/>
            <a:ext cx="2169968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 dirty="0">
                <a:solidFill>
                  <a:srgbClr val="191A1C"/>
                </a:solidFill>
                <a:latin typeface="Arial"/>
                <a:ea typeface="Arial"/>
                <a:cs typeface="Arial"/>
              </a:rPr>
              <a:t>TELEHANDLER ON SITE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D0B26BA-9B4E-4398-A153-3F6E161C4B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819400" y="2265522"/>
            <a:ext cx="2361010" cy="2401728"/>
          </a:xfrm>
          <a:prstGeom prst="rect">
            <a:avLst/>
          </a:prstGeom>
        </p:spPr>
      </p:pic>
      <p:sp>
        <p:nvSpPr>
          <p:cNvPr id="11" name="Design block 10">
            <a:extLst>
              <a:ext uri="{FF2B5EF4-FFF2-40B4-BE49-F238E27FC236}">
                <a16:creationId xmlns:a16="http://schemas.microsoft.com/office/drawing/2014/main" id="{B2E3E0E6-D779-4CC9-8693-2A5D642717D4}"/>
              </a:ext>
            </a:extLst>
          </p:cNvPr>
          <p:cNvSpPr>
            <a:spLocks noGrp="1"/>
          </p:cNvSpPr>
          <p:nvPr/>
        </p:nvSpPr>
        <p:spPr>
          <a:xfrm>
            <a:off x="2819400" y="4667250"/>
            <a:ext cx="2381250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BACKHOE LOADER">
            <a:extLst>
              <a:ext uri="{FF2B5EF4-FFF2-40B4-BE49-F238E27FC236}">
                <a16:creationId xmlns:a16="http://schemas.microsoft.com/office/drawing/2014/main" id="{DF920963-C23E-4E41-911C-E86B1875E827}"/>
              </a:ext>
            </a:extLst>
          </p:cNvPr>
          <p:cNvSpPr>
            <a:spLocks noGrp="1"/>
          </p:cNvSpPr>
          <p:nvPr/>
        </p:nvSpPr>
        <p:spPr>
          <a:xfrm>
            <a:off x="2914650" y="4667250"/>
            <a:ext cx="2324100" cy="2947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 dirty="0">
                <a:solidFill>
                  <a:srgbClr val="191A1C"/>
                </a:solidFill>
                <a:latin typeface="Arial"/>
                <a:ea typeface="Arial"/>
                <a:cs typeface="Arial"/>
              </a:rPr>
              <a:t>BACKHOE LOADER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647E38F-3D4F-495B-8C25-351862C1E5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334000" y="2265522"/>
            <a:ext cx="2305645" cy="2439352"/>
          </a:xfrm>
          <a:prstGeom prst="rect">
            <a:avLst/>
          </a:prstGeom>
        </p:spPr>
      </p:pic>
      <p:sp>
        <p:nvSpPr>
          <p:cNvPr id="14" name="Design block 13">
            <a:extLst>
              <a:ext uri="{FF2B5EF4-FFF2-40B4-BE49-F238E27FC236}">
                <a16:creationId xmlns:a16="http://schemas.microsoft.com/office/drawing/2014/main" id="{D47FA2CA-8C4F-44B2-B1E8-05E9A84993D8}"/>
              </a:ext>
            </a:extLst>
          </p:cNvPr>
          <p:cNvSpPr>
            <a:spLocks noGrp="1"/>
          </p:cNvSpPr>
          <p:nvPr/>
        </p:nvSpPr>
        <p:spPr>
          <a:xfrm>
            <a:off x="5334000" y="4667250"/>
            <a:ext cx="2381250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TELESCOPIC HANDLER">
            <a:extLst>
              <a:ext uri="{FF2B5EF4-FFF2-40B4-BE49-F238E27FC236}">
                <a16:creationId xmlns:a16="http://schemas.microsoft.com/office/drawing/2014/main" id="{2933E212-4C8A-4AE8-A8FA-FD90AFBF92E5}"/>
              </a:ext>
            </a:extLst>
          </p:cNvPr>
          <p:cNvSpPr>
            <a:spLocks noGrp="1"/>
          </p:cNvSpPr>
          <p:nvPr/>
        </p:nvSpPr>
        <p:spPr>
          <a:xfrm>
            <a:off x="5429250" y="4667250"/>
            <a:ext cx="2286000" cy="2947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 dirty="0">
                <a:solidFill>
                  <a:srgbClr val="191A1C"/>
                </a:solidFill>
                <a:latin typeface="Arial"/>
                <a:ea typeface="Arial"/>
                <a:cs typeface="Arial"/>
              </a:rPr>
              <a:t>TELESCOPIC HANDLER</a:t>
            </a:r>
          </a:p>
        </p:txBody>
      </p:sp>
      <p:sp>
        <p:nvSpPr>
          <p:cNvPr id="16" name="Design block 15">
            <a:extLst>
              <a:ext uri="{FF2B5EF4-FFF2-40B4-BE49-F238E27FC236}">
                <a16:creationId xmlns:a16="http://schemas.microsoft.com/office/drawing/2014/main" id="{FC88EF52-A2B5-473F-8C84-5DFFA94BECBD}"/>
              </a:ext>
            </a:extLst>
          </p:cNvPr>
          <p:cNvSpPr>
            <a:spLocks noGrp="1"/>
          </p:cNvSpPr>
          <p:nvPr/>
        </p:nvSpPr>
        <p:spPr>
          <a:xfrm>
            <a:off x="304800" y="5219700"/>
            <a:ext cx="7410450" cy="19050"/>
          </a:xfrm>
          <a:prstGeom prst="rect">
            <a:avLst/>
          </a:prstGeom>
          <a:solidFill>
            <a:srgbClr val="454649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WASEEM CONSTRUCTION COMPANY">
            <a:extLst>
              <a:ext uri="{FF2B5EF4-FFF2-40B4-BE49-F238E27FC236}">
                <a16:creationId xmlns:a16="http://schemas.microsoft.com/office/drawing/2014/main" id="{7DDFF163-E850-4F00-9EE0-5938A83D940C}"/>
              </a:ext>
            </a:extLst>
          </p:cNvPr>
          <p:cNvSpPr>
            <a:spLocks noGrp="1"/>
          </p:cNvSpPr>
          <p:nvPr/>
        </p:nvSpPr>
        <p:spPr>
          <a:xfrm>
            <a:off x="304800" y="5357051"/>
            <a:ext cx="409575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18" name="Design block 17">
            <a:extLst>
              <a:ext uri="{FF2B5EF4-FFF2-40B4-BE49-F238E27FC236}">
                <a16:creationId xmlns:a16="http://schemas.microsoft.com/office/drawing/2014/main" id="{1F7EF9D4-0DB8-4002-95D4-254479C19BCF}"/>
              </a:ext>
            </a:extLst>
          </p:cNvPr>
          <p:cNvSpPr>
            <a:spLocks noGrp="1"/>
          </p:cNvSpPr>
          <p:nvPr/>
        </p:nvSpPr>
        <p:spPr>
          <a:xfrm>
            <a:off x="7400925" y="5276850"/>
            <a:ext cx="314325" cy="2095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12">
            <a:extLst>
              <a:ext uri="{FF2B5EF4-FFF2-40B4-BE49-F238E27FC236}">
                <a16:creationId xmlns:a16="http://schemas.microsoft.com/office/drawing/2014/main" id="{0E0F57C9-8C5F-4799-B23E-D0E2E5B61D4A}"/>
              </a:ext>
            </a:extLst>
          </p:cNvPr>
          <p:cNvSpPr>
            <a:spLocks noGrp="1"/>
          </p:cNvSpPr>
          <p:nvPr/>
        </p:nvSpPr>
        <p:spPr>
          <a:xfrm>
            <a:off x="7496175" y="5348097"/>
            <a:ext cx="219075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91134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esign block 0">
            <a:extLst>
              <a:ext uri="{FF2B5EF4-FFF2-40B4-BE49-F238E27FC236}">
                <a16:creationId xmlns:a16="http://schemas.microsoft.com/office/drawing/2014/main" id="{AADF32AE-702A-4B5F-B3B6-3B3CA4994154}"/>
              </a:ext>
            </a:extLst>
          </p:cNvPr>
          <p:cNvSpPr>
            <a:spLocks noGrp="1"/>
          </p:cNvSpPr>
          <p:nvPr/>
        </p:nvSpPr>
        <p:spPr>
          <a:xfrm>
            <a:off x="-47625" y="0"/>
            <a:ext cx="8020050" cy="5667375"/>
          </a:xfrm>
          <a:prstGeom prst="rect">
            <a:avLst/>
          </a:prstGeom>
          <a:solidFill>
            <a:srgbClr val="F7F6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WASEEM">
            <a:extLst>
              <a:ext uri="{FF2B5EF4-FFF2-40B4-BE49-F238E27FC236}">
                <a16:creationId xmlns:a16="http://schemas.microsoft.com/office/drawing/2014/main" id="{989DDBC8-B509-4902-B89F-831FE357D42F}"/>
              </a:ext>
            </a:extLst>
          </p:cNvPr>
          <p:cNvSpPr>
            <a:spLocks noGrp="1"/>
          </p:cNvSpPr>
          <p:nvPr/>
        </p:nvSpPr>
        <p:spPr>
          <a:xfrm>
            <a:off x="304800" y="245555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>
              <a:ext uri="{FF2B5EF4-FFF2-40B4-BE49-F238E27FC236}">
                <a16:creationId xmlns:a16="http://schemas.microsoft.com/office/drawing/2014/main" id="{7EDB7455-22CC-4606-B0CA-553488824B03}"/>
              </a:ext>
            </a:extLst>
          </p:cNvPr>
          <p:cNvSpPr>
            <a:spLocks noGrp="1"/>
          </p:cNvSpPr>
          <p:nvPr/>
        </p:nvSpPr>
        <p:spPr>
          <a:xfrm>
            <a:off x="314325" y="455581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11 / SPECIALIST HANDLING">
            <a:extLst>
              <a:ext uri="{FF2B5EF4-FFF2-40B4-BE49-F238E27FC236}">
                <a16:creationId xmlns:a16="http://schemas.microsoft.com/office/drawing/2014/main" id="{B2F89386-1C56-4133-9AF8-67ADA69A6857}"/>
              </a:ext>
            </a:extLst>
          </p:cNvPr>
          <p:cNvSpPr>
            <a:spLocks noGrp="1"/>
          </p:cNvSpPr>
          <p:nvPr/>
        </p:nvSpPr>
        <p:spPr>
          <a:xfrm>
            <a:off x="3714750" y="356426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11 / SPECIALIST HANDLING</a:t>
            </a:r>
          </a:p>
        </p:txBody>
      </p:sp>
      <p:sp>
        <p:nvSpPr>
          <p:cNvPr id="5" name="Design block 4">
            <a:extLst>
              <a:ext uri="{FF2B5EF4-FFF2-40B4-BE49-F238E27FC236}">
                <a16:creationId xmlns:a16="http://schemas.microsoft.com/office/drawing/2014/main" id="{AE7B7C34-54F9-4D94-80E1-D8CBC9678F58}"/>
              </a:ext>
            </a:extLst>
          </p:cNvPr>
          <p:cNvSpPr>
            <a:spLocks noGrp="1"/>
          </p:cNvSpPr>
          <p:nvPr/>
        </p:nvSpPr>
        <p:spPr>
          <a:xfrm>
            <a:off x="0" y="742950"/>
            <a:ext cx="8020050" cy="12001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HANDLING WITH PURPOSE.">
            <a:extLst>
              <a:ext uri="{FF2B5EF4-FFF2-40B4-BE49-F238E27FC236}">
                <a16:creationId xmlns:a16="http://schemas.microsoft.com/office/drawing/2014/main" id="{2B52F687-0284-4126-A85C-07C64901FAAC}"/>
              </a:ext>
            </a:extLst>
          </p:cNvPr>
          <p:cNvSpPr>
            <a:spLocks noGrp="1"/>
          </p:cNvSpPr>
          <p:nvPr/>
        </p:nvSpPr>
        <p:spPr>
          <a:xfrm>
            <a:off x="304800" y="1056513"/>
            <a:ext cx="4227016" cy="4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HANDLING WITH PURPOSE.</a:t>
            </a:r>
          </a:p>
        </p:txBody>
      </p:sp>
      <p:sp>
        <p:nvSpPr>
          <p:cNvPr id="7" name="Mobile crane activity and container-handling equipment.">
            <a:extLst>
              <a:ext uri="{FF2B5EF4-FFF2-40B4-BE49-F238E27FC236}">
                <a16:creationId xmlns:a16="http://schemas.microsoft.com/office/drawing/2014/main" id="{DD5290E1-C793-43E4-8290-0001A9EDF9BD}"/>
              </a:ext>
            </a:extLst>
          </p:cNvPr>
          <p:cNvSpPr>
            <a:spLocks noGrp="1"/>
          </p:cNvSpPr>
          <p:nvPr/>
        </p:nvSpPr>
        <p:spPr>
          <a:xfrm>
            <a:off x="314325" y="1581150"/>
            <a:ext cx="73914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Mobile crane activity and container-handling equipment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B4DD46-1CA3-4849-A5E1-3B152DA63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14326" y="2172462"/>
            <a:ext cx="3590924" cy="2438400"/>
          </a:xfrm>
          <a:prstGeom prst="rect">
            <a:avLst/>
          </a:prstGeom>
        </p:spPr>
      </p:pic>
      <p:sp>
        <p:nvSpPr>
          <p:cNvPr id="9" name="Design block 8">
            <a:extLst>
              <a:ext uri="{FF2B5EF4-FFF2-40B4-BE49-F238E27FC236}">
                <a16:creationId xmlns:a16="http://schemas.microsoft.com/office/drawing/2014/main" id="{31A04C0C-350E-4DF8-8BC1-1EC644850C47}"/>
              </a:ext>
            </a:extLst>
          </p:cNvPr>
          <p:cNvSpPr>
            <a:spLocks noGrp="1"/>
          </p:cNvSpPr>
          <p:nvPr/>
        </p:nvSpPr>
        <p:spPr>
          <a:xfrm>
            <a:off x="304800" y="4619625"/>
            <a:ext cx="3600450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MOBILE CRANE &amp; SLUNG LOAD">
            <a:extLst>
              <a:ext uri="{FF2B5EF4-FFF2-40B4-BE49-F238E27FC236}">
                <a16:creationId xmlns:a16="http://schemas.microsoft.com/office/drawing/2014/main" id="{54F6B8B6-9BA7-4C93-AD77-5016E32B505E}"/>
              </a:ext>
            </a:extLst>
          </p:cNvPr>
          <p:cNvSpPr>
            <a:spLocks noGrp="1"/>
          </p:cNvSpPr>
          <p:nvPr/>
        </p:nvSpPr>
        <p:spPr>
          <a:xfrm>
            <a:off x="734290" y="4685825"/>
            <a:ext cx="3228109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 dirty="0">
                <a:solidFill>
                  <a:srgbClr val="191A1C"/>
                </a:solidFill>
                <a:latin typeface="Arial"/>
                <a:ea typeface="Arial"/>
                <a:cs typeface="Arial"/>
              </a:rPr>
              <a:t>MOBILE CRANE &amp; SLUNG LOAD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E5191B1-6AE2-47A3-AF88-A6D6FEA027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079875" y="2181225"/>
            <a:ext cx="3562350" cy="2438400"/>
          </a:xfrm>
          <a:prstGeom prst="rect">
            <a:avLst/>
          </a:prstGeom>
        </p:spPr>
      </p:pic>
      <p:sp>
        <p:nvSpPr>
          <p:cNvPr id="12" name="Design block 11">
            <a:extLst>
              <a:ext uri="{FF2B5EF4-FFF2-40B4-BE49-F238E27FC236}">
                <a16:creationId xmlns:a16="http://schemas.microsoft.com/office/drawing/2014/main" id="{E7DA95E9-B3C4-4A83-94AD-78735F902462}"/>
              </a:ext>
            </a:extLst>
          </p:cNvPr>
          <p:cNvSpPr>
            <a:spLocks noGrp="1"/>
          </p:cNvSpPr>
          <p:nvPr/>
        </p:nvSpPr>
        <p:spPr>
          <a:xfrm>
            <a:off x="4057650" y="4619625"/>
            <a:ext cx="3657600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REACH STACKER">
            <a:extLst>
              <a:ext uri="{FF2B5EF4-FFF2-40B4-BE49-F238E27FC236}">
                <a16:creationId xmlns:a16="http://schemas.microsoft.com/office/drawing/2014/main" id="{AA0AC1CA-E37C-4A66-9C80-6941E8AFA660}"/>
              </a:ext>
            </a:extLst>
          </p:cNvPr>
          <p:cNvSpPr>
            <a:spLocks noGrp="1"/>
          </p:cNvSpPr>
          <p:nvPr/>
        </p:nvSpPr>
        <p:spPr>
          <a:xfrm>
            <a:off x="4980708" y="4657725"/>
            <a:ext cx="2734541" cy="2566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 dirty="0">
                <a:solidFill>
                  <a:srgbClr val="191A1C"/>
                </a:solidFill>
                <a:latin typeface="Arial"/>
                <a:ea typeface="Arial"/>
                <a:cs typeface="Arial"/>
              </a:rPr>
              <a:t>REACH STACKER</a:t>
            </a:r>
          </a:p>
        </p:txBody>
      </p:sp>
      <p:sp>
        <p:nvSpPr>
          <p:cNvPr id="14" name="Design block 13">
            <a:extLst>
              <a:ext uri="{FF2B5EF4-FFF2-40B4-BE49-F238E27FC236}">
                <a16:creationId xmlns:a16="http://schemas.microsoft.com/office/drawing/2014/main" id="{4CA797D5-880A-44CE-B578-D43B0E550B54}"/>
              </a:ext>
            </a:extLst>
          </p:cNvPr>
          <p:cNvSpPr>
            <a:spLocks noGrp="1"/>
          </p:cNvSpPr>
          <p:nvPr/>
        </p:nvSpPr>
        <p:spPr>
          <a:xfrm>
            <a:off x="304800" y="5219700"/>
            <a:ext cx="7410450" cy="19050"/>
          </a:xfrm>
          <a:prstGeom prst="rect">
            <a:avLst/>
          </a:prstGeom>
          <a:solidFill>
            <a:srgbClr val="D5D4C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WASEEM CONSTRUCTION COMPANY">
            <a:extLst>
              <a:ext uri="{FF2B5EF4-FFF2-40B4-BE49-F238E27FC236}">
                <a16:creationId xmlns:a16="http://schemas.microsoft.com/office/drawing/2014/main" id="{E8F54280-C202-46DB-AAF8-398F6089BB27}"/>
              </a:ext>
            </a:extLst>
          </p:cNvPr>
          <p:cNvSpPr>
            <a:spLocks noGrp="1"/>
          </p:cNvSpPr>
          <p:nvPr/>
        </p:nvSpPr>
        <p:spPr>
          <a:xfrm>
            <a:off x="304800" y="5357051"/>
            <a:ext cx="409575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16" name="Design block 15">
            <a:extLst>
              <a:ext uri="{FF2B5EF4-FFF2-40B4-BE49-F238E27FC236}">
                <a16:creationId xmlns:a16="http://schemas.microsoft.com/office/drawing/2014/main" id="{3E562219-05E5-4E1F-8D88-895D1707144E}"/>
              </a:ext>
            </a:extLst>
          </p:cNvPr>
          <p:cNvSpPr>
            <a:spLocks noGrp="1"/>
          </p:cNvSpPr>
          <p:nvPr/>
        </p:nvSpPr>
        <p:spPr>
          <a:xfrm>
            <a:off x="7400925" y="5276850"/>
            <a:ext cx="314325" cy="2095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13">
            <a:extLst>
              <a:ext uri="{FF2B5EF4-FFF2-40B4-BE49-F238E27FC236}">
                <a16:creationId xmlns:a16="http://schemas.microsoft.com/office/drawing/2014/main" id="{A4C677E9-BCC3-4134-9C6D-EA7DA46B4BC0}"/>
              </a:ext>
            </a:extLst>
          </p:cNvPr>
          <p:cNvSpPr>
            <a:spLocks noGrp="1"/>
          </p:cNvSpPr>
          <p:nvPr/>
        </p:nvSpPr>
        <p:spPr>
          <a:xfrm>
            <a:off x="7496175" y="5348097"/>
            <a:ext cx="219075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86092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Design block 0">
            <a:extLst>
              <a:ext uri="{FF2B5EF4-FFF2-40B4-BE49-F238E27FC236}">
                <a16:creationId xmlns:a16="http://schemas.microsoft.com/office/drawing/2014/main" id="{16FF101F-B18F-4B5D-8C6C-3B9BA10F07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20050" cy="5667375"/>
          </a:xfrm>
          <a:prstGeom prst="rect">
            <a:avLst/>
          </a:prstGeom>
          <a:solidFill>
            <a:srgbClr val="191A1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WASEEM">
            <a:extLst>
              <a:ext uri="{FF2B5EF4-FFF2-40B4-BE49-F238E27FC236}">
                <a16:creationId xmlns:a16="http://schemas.microsoft.com/office/drawing/2014/main" id="{75D10B12-9210-44F9-A99D-2CE117A14B2F}"/>
              </a:ext>
            </a:extLst>
          </p:cNvPr>
          <p:cNvSpPr>
            <a:spLocks noGrp="1"/>
          </p:cNvSpPr>
          <p:nvPr/>
        </p:nvSpPr>
        <p:spPr>
          <a:xfrm>
            <a:off x="304800" y="245555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>
              <a:ext uri="{FF2B5EF4-FFF2-40B4-BE49-F238E27FC236}">
                <a16:creationId xmlns:a16="http://schemas.microsoft.com/office/drawing/2014/main" id="{30D196A8-E91F-40A6-97AF-E384C89393CC}"/>
              </a:ext>
            </a:extLst>
          </p:cNvPr>
          <p:cNvSpPr>
            <a:spLocks noGrp="1"/>
          </p:cNvSpPr>
          <p:nvPr/>
        </p:nvSpPr>
        <p:spPr>
          <a:xfrm>
            <a:off x="314325" y="455581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6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6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12 / PLANNING THE REQUIREMENT">
            <a:extLst>
              <a:ext uri="{FF2B5EF4-FFF2-40B4-BE49-F238E27FC236}">
                <a16:creationId xmlns:a16="http://schemas.microsoft.com/office/drawing/2014/main" id="{EDC108A3-498F-4FEF-A225-65CCBE2D6AA0}"/>
              </a:ext>
            </a:extLst>
          </p:cNvPr>
          <p:cNvSpPr>
            <a:spLocks noGrp="1"/>
          </p:cNvSpPr>
          <p:nvPr/>
        </p:nvSpPr>
        <p:spPr>
          <a:xfrm>
            <a:off x="3714750" y="356426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12 / PLANNING THE REQUIREMENT</a:t>
            </a:r>
          </a:p>
        </p:txBody>
      </p:sp>
      <p:sp>
        <p:nvSpPr>
          <p:cNvPr id="5" name="A CLEAR BRIEF.">
            <a:extLst>
              <a:ext uri="{FF2B5EF4-FFF2-40B4-BE49-F238E27FC236}">
                <a16:creationId xmlns:a16="http://schemas.microsoft.com/office/drawing/2014/main" id="{D315B60E-1D50-45A0-874F-C1680AD68F0A}"/>
              </a:ext>
            </a:extLst>
          </p:cNvPr>
          <p:cNvSpPr>
            <a:spLocks noGrp="1"/>
          </p:cNvSpPr>
          <p:nvPr/>
        </p:nvSpPr>
        <p:spPr>
          <a:xfrm>
            <a:off x="304800" y="857631"/>
            <a:ext cx="2686050" cy="453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A CLEAR BRIEF.</a:t>
            </a:r>
          </a:p>
        </p:txBody>
      </p:sp>
      <p:sp>
        <p:nvSpPr>
          <p:cNvPr id="6" name="A BETTER START.">
            <a:extLst>
              <a:ext uri="{FF2B5EF4-FFF2-40B4-BE49-F238E27FC236}">
                <a16:creationId xmlns:a16="http://schemas.microsoft.com/office/drawing/2014/main" id="{DDF863D7-EF4C-43BE-9840-CB357BABEFD2}"/>
              </a:ext>
            </a:extLst>
          </p:cNvPr>
          <p:cNvSpPr>
            <a:spLocks noGrp="1"/>
          </p:cNvSpPr>
          <p:nvPr/>
        </p:nvSpPr>
        <p:spPr>
          <a:xfrm>
            <a:off x="304800" y="1238631"/>
            <a:ext cx="2973846" cy="453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A BETTER START.</a:t>
            </a:r>
          </a:p>
        </p:txBody>
      </p:sp>
      <p:sp>
        <p:nvSpPr>
          <p:cNvPr id="7" name="Four points to discuss when preparing an equipment enquiry.">
            <a:extLst>
              <a:ext uri="{FF2B5EF4-FFF2-40B4-BE49-F238E27FC236}">
                <a16:creationId xmlns:a16="http://schemas.microsoft.com/office/drawing/2014/main" id="{F38C495C-461B-4D6B-8142-61CEA42054C7}"/>
              </a:ext>
            </a:extLst>
          </p:cNvPr>
          <p:cNvSpPr>
            <a:spLocks noGrp="1"/>
          </p:cNvSpPr>
          <p:nvPr/>
        </p:nvSpPr>
        <p:spPr>
          <a:xfrm>
            <a:off x="314325" y="1809750"/>
            <a:ext cx="73914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8C8"/>
                </a:solidFill>
                <a:latin typeface="Arial"/>
                <a:ea typeface="Arial"/>
                <a:cs typeface="Arial"/>
              </a:rPr>
              <a:t>Four points to discuss when preparing an equipment enquiry</a:t>
            </a:r>
          </a:p>
        </p:txBody>
      </p:sp>
      <p:sp>
        <p:nvSpPr>
          <p:cNvPr id="8" name="Design block 7">
            <a:extLst>
              <a:ext uri="{FF2B5EF4-FFF2-40B4-BE49-F238E27FC236}">
                <a16:creationId xmlns:a16="http://schemas.microsoft.com/office/drawing/2014/main" id="{05716EBD-580B-43DB-8AE3-DE3F0D80BEDA}"/>
              </a:ext>
            </a:extLst>
          </p:cNvPr>
          <p:cNvSpPr>
            <a:spLocks noGrp="1"/>
          </p:cNvSpPr>
          <p:nvPr/>
        </p:nvSpPr>
        <p:spPr>
          <a:xfrm>
            <a:off x="304800" y="2371725"/>
            <a:ext cx="1771650" cy="25717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01">
            <a:extLst>
              <a:ext uri="{FF2B5EF4-FFF2-40B4-BE49-F238E27FC236}">
                <a16:creationId xmlns:a16="http://schemas.microsoft.com/office/drawing/2014/main" id="{C3A104D4-A3EF-48A0-AAF0-DBD02BC0C021}"/>
              </a:ext>
            </a:extLst>
          </p:cNvPr>
          <p:cNvSpPr>
            <a:spLocks noGrp="1"/>
          </p:cNvSpPr>
          <p:nvPr/>
        </p:nvSpPr>
        <p:spPr>
          <a:xfrm>
            <a:off x="447675" y="2590419"/>
            <a:ext cx="264765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HE TASK">
            <a:extLst>
              <a:ext uri="{FF2B5EF4-FFF2-40B4-BE49-F238E27FC236}">
                <a16:creationId xmlns:a16="http://schemas.microsoft.com/office/drawing/2014/main" id="{7924B510-C003-42FE-8CDE-CE80C7FD3013}"/>
              </a:ext>
            </a:extLst>
          </p:cNvPr>
          <p:cNvSpPr>
            <a:spLocks noGrp="1"/>
          </p:cNvSpPr>
          <p:nvPr/>
        </p:nvSpPr>
        <p:spPr>
          <a:xfrm>
            <a:off x="447675" y="3313748"/>
            <a:ext cx="809625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THE TASK</a:t>
            </a:r>
          </a:p>
        </p:txBody>
      </p:sp>
      <p:sp>
        <p:nvSpPr>
          <p:cNvPr id="11" name="What needs to be lifted, moved">
            <a:extLst>
              <a:ext uri="{FF2B5EF4-FFF2-40B4-BE49-F238E27FC236}">
                <a16:creationId xmlns:a16="http://schemas.microsoft.com/office/drawing/2014/main" id="{C580CDBE-6546-49F3-97AF-892B07DFC0F8}"/>
              </a:ext>
            </a:extLst>
          </p:cNvPr>
          <p:cNvSpPr>
            <a:spLocks noGrp="1"/>
          </p:cNvSpPr>
          <p:nvPr/>
        </p:nvSpPr>
        <p:spPr>
          <a:xfrm>
            <a:off x="447675" y="3638550"/>
            <a:ext cx="15049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What needs to be lifted, moved or accessed?</a:t>
            </a:r>
          </a:p>
        </p:txBody>
      </p:sp>
      <p:sp>
        <p:nvSpPr>
          <p:cNvPr id="12" name="or accessed?">
            <a:extLst>
              <a:ext uri="{FF2B5EF4-FFF2-40B4-BE49-F238E27FC236}">
                <a16:creationId xmlns:a16="http://schemas.microsoft.com/office/drawing/2014/main" id="{115E6255-C910-477F-9F06-2C5BD1938F9A}"/>
              </a:ext>
            </a:extLst>
          </p:cNvPr>
          <p:cNvSpPr>
            <a:spLocks noGrp="1"/>
          </p:cNvSpPr>
          <p:nvPr/>
        </p:nvSpPr>
        <p:spPr>
          <a:xfrm>
            <a:off x="447675" y="3782949"/>
            <a:ext cx="1005859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13" name="Design block 12">
            <a:extLst>
              <a:ext uri="{FF2B5EF4-FFF2-40B4-BE49-F238E27FC236}">
                <a16:creationId xmlns:a16="http://schemas.microsoft.com/office/drawing/2014/main" id="{0A0992A0-46A3-4164-A1B6-7E8E8249795F}"/>
              </a:ext>
            </a:extLst>
          </p:cNvPr>
          <p:cNvSpPr>
            <a:spLocks noGrp="1"/>
          </p:cNvSpPr>
          <p:nvPr/>
        </p:nvSpPr>
        <p:spPr>
          <a:xfrm>
            <a:off x="2190750" y="2371725"/>
            <a:ext cx="1771650" cy="2571750"/>
          </a:xfrm>
          <a:prstGeom prst="rect">
            <a:avLst/>
          </a:prstGeom>
          <a:solidFill>
            <a:srgbClr val="2B2C3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02">
            <a:extLst>
              <a:ext uri="{FF2B5EF4-FFF2-40B4-BE49-F238E27FC236}">
                <a16:creationId xmlns:a16="http://schemas.microsoft.com/office/drawing/2014/main" id="{6C7603CA-873D-48BD-8782-3BD5C94C2086}"/>
              </a:ext>
            </a:extLst>
          </p:cNvPr>
          <p:cNvSpPr>
            <a:spLocks noGrp="1"/>
          </p:cNvSpPr>
          <p:nvPr/>
        </p:nvSpPr>
        <p:spPr>
          <a:xfrm>
            <a:off x="2333625" y="2590419"/>
            <a:ext cx="264765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HE LOAD">
            <a:extLst>
              <a:ext uri="{FF2B5EF4-FFF2-40B4-BE49-F238E27FC236}">
                <a16:creationId xmlns:a16="http://schemas.microsoft.com/office/drawing/2014/main" id="{C0443155-74C6-4DAA-9803-879ABFB22F75}"/>
              </a:ext>
            </a:extLst>
          </p:cNvPr>
          <p:cNvSpPr>
            <a:spLocks noGrp="1"/>
          </p:cNvSpPr>
          <p:nvPr/>
        </p:nvSpPr>
        <p:spPr>
          <a:xfrm>
            <a:off x="2333625" y="3313748"/>
            <a:ext cx="825461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THE LOAD</a:t>
            </a:r>
          </a:p>
        </p:txBody>
      </p:sp>
      <p:sp>
        <p:nvSpPr>
          <p:cNvPr id="16" name="What are the dimensions,">
            <a:extLst>
              <a:ext uri="{FF2B5EF4-FFF2-40B4-BE49-F238E27FC236}">
                <a16:creationId xmlns:a16="http://schemas.microsoft.com/office/drawing/2014/main" id="{8C2EAEEF-D5A9-4D65-BBF7-D5D0E225D1E7}"/>
              </a:ext>
            </a:extLst>
          </p:cNvPr>
          <p:cNvSpPr>
            <a:spLocks noGrp="1"/>
          </p:cNvSpPr>
          <p:nvPr/>
        </p:nvSpPr>
        <p:spPr>
          <a:xfrm>
            <a:off x="2333625" y="3638550"/>
            <a:ext cx="15049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What are the dimensions, weight and handling requirements?</a:t>
            </a:r>
          </a:p>
        </p:txBody>
      </p:sp>
      <p:sp>
        <p:nvSpPr>
          <p:cNvPr id="17" name="weight and handling">
            <a:extLst>
              <a:ext uri="{FF2B5EF4-FFF2-40B4-BE49-F238E27FC236}">
                <a16:creationId xmlns:a16="http://schemas.microsoft.com/office/drawing/2014/main" id="{76F77513-6BC3-4BE9-876E-D79E1BFF7CB1}"/>
              </a:ext>
            </a:extLst>
          </p:cNvPr>
          <p:cNvSpPr>
            <a:spLocks noGrp="1"/>
          </p:cNvSpPr>
          <p:nvPr/>
        </p:nvSpPr>
        <p:spPr>
          <a:xfrm>
            <a:off x="2333625" y="3782949"/>
            <a:ext cx="1438313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18" name="requirements?">
            <a:extLst>
              <a:ext uri="{FF2B5EF4-FFF2-40B4-BE49-F238E27FC236}">
                <a16:creationId xmlns:a16="http://schemas.microsoft.com/office/drawing/2014/main" id="{97953B7F-21EF-4637-A002-C9662622909D}"/>
              </a:ext>
            </a:extLst>
          </p:cNvPr>
          <p:cNvSpPr>
            <a:spLocks noGrp="1"/>
          </p:cNvSpPr>
          <p:nvPr/>
        </p:nvSpPr>
        <p:spPr>
          <a:xfrm>
            <a:off x="2333625" y="3940112"/>
            <a:ext cx="1070934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19" name="Design block 18">
            <a:extLst>
              <a:ext uri="{FF2B5EF4-FFF2-40B4-BE49-F238E27FC236}">
                <a16:creationId xmlns:a16="http://schemas.microsoft.com/office/drawing/2014/main" id="{231086AF-12C3-4266-9A4E-6D648318F970}"/>
              </a:ext>
            </a:extLst>
          </p:cNvPr>
          <p:cNvSpPr>
            <a:spLocks noGrp="1"/>
          </p:cNvSpPr>
          <p:nvPr/>
        </p:nvSpPr>
        <p:spPr>
          <a:xfrm>
            <a:off x="4076700" y="2371725"/>
            <a:ext cx="1771650" cy="25717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03">
            <a:extLst>
              <a:ext uri="{FF2B5EF4-FFF2-40B4-BE49-F238E27FC236}">
                <a16:creationId xmlns:a16="http://schemas.microsoft.com/office/drawing/2014/main" id="{3D2FE5AE-CCC7-4FB2-85CC-1E2B8239C322}"/>
              </a:ext>
            </a:extLst>
          </p:cNvPr>
          <p:cNvSpPr>
            <a:spLocks noGrp="1"/>
          </p:cNvSpPr>
          <p:nvPr/>
        </p:nvSpPr>
        <p:spPr>
          <a:xfrm>
            <a:off x="4219575" y="2590419"/>
            <a:ext cx="264765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THE LOCATION">
            <a:extLst>
              <a:ext uri="{FF2B5EF4-FFF2-40B4-BE49-F238E27FC236}">
                <a16:creationId xmlns:a16="http://schemas.microsoft.com/office/drawing/2014/main" id="{695C3F07-DDE5-4311-8E5D-1DC00056C8B6}"/>
              </a:ext>
            </a:extLst>
          </p:cNvPr>
          <p:cNvSpPr>
            <a:spLocks noGrp="1"/>
          </p:cNvSpPr>
          <p:nvPr/>
        </p:nvSpPr>
        <p:spPr>
          <a:xfrm>
            <a:off x="4219575" y="3313748"/>
            <a:ext cx="1166743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THE LOCATION</a:t>
            </a:r>
          </a:p>
        </p:txBody>
      </p:sp>
      <p:sp>
        <p:nvSpPr>
          <p:cNvPr id="22" name="What access, space and">
            <a:extLst>
              <a:ext uri="{FF2B5EF4-FFF2-40B4-BE49-F238E27FC236}">
                <a16:creationId xmlns:a16="http://schemas.microsoft.com/office/drawing/2014/main" id="{E40C79D3-B242-451F-A97D-2ACA5CB0E250}"/>
              </a:ext>
            </a:extLst>
          </p:cNvPr>
          <p:cNvSpPr>
            <a:spLocks noGrp="1"/>
          </p:cNvSpPr>
          <p:nvPr/>
        </p:nvSpPr>
        <p:spPr>
          <a:xfrm>
            <a:off x="4219575" y="3638550"/>
            <a:ext cx="15049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What access, space and ground conditions affect the work?</a:t>
            </a:r>
          </a:p>
        </p:txBody>
      </p:sp>
      <p:sp>
        <p:nvSpPr>
          <p:cNvPr id="23" name="ground conditions affect the">
            <a:extLst>
              <a:ext uri="{FF2B5EF4-FFF2-40B4-BE49-F238E27FC236}">
                <a16:creationId xmlns:a16="http://schemas.microsoft.com/office/drawing/2014/main" id="{B5618151-B41F-486F-946B-7D0395C51A09}"/>
              </a:ext>
            </a:extLst>
          </p:cNvPr>
          <p:cNvSpPr>
            <a:spLocks noGrp="1"/>
          </p:cNvSpPr>
          <p:nvPr/>
        </p:nvSpPr>
        <p:spPr>
          <a:xfrm>
            <a:off x="4219575" y="3782949"/>
            <a:ext cx="19355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24" name="work?">
            <a:extLst>
              <a:ext uri="{FF2B5EF4-FFF2-40B4-BE49-F238E27FC236}">
                <a16:creationId xmlns:a16="http://schemas.microsoft.com/office/drawing/2014/main" id="{0398BB36-8815-48DD-83C5-08468978BB4B}"/>
              </a:ext>
            </a:extLst>
          </p:cNvPr>
          <p:cNvSpPr>
            <a:spLocks noGrp="1"/>
          </p:cNvSpPr>
          <p:nvPr/>
        </p:nvSpPr>
        <p:spPr>
          <a:xfrm>
            <a:off x="4219575" y="3940112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25" name="Design block 24">
            <a:extLst>
              <a:ext uri="{FF2B5EF4-FFF2-40B4-BE49-F238E27FC236}">
                <a16:creationId xmlns:a16="http://schemas.microsoft.com/office/drawing/2014/main" id="{3E8CD99A-62BD-4256-BBFD-09E8E42C73AE}"/>
              </a:ext>
            </a:extLst>
          </p:cNvPr>
          <p:cNvSpPr>
            <a:spLocks noGrp="1"/>
          </p:cNvSpPr>
          <p:nvPr/>
        </p:nvSpPr>
        <p:spPr>
          <a:xfrm>
            <a:off x="5962650" y="2371725"/>
            <a:ext cx="1771650" cy="2571750"/>
          </a:xfrm>
          <a:prstGeom prst="rect">
            <a:avLst/>
          </a:prstGeom>
          <a:solidFill>
            <a:srgbClr val="2B2C3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04">
            <a:extLst>
              <a:ext uri="{FF2B5EF4-FFF2-40B4-BE49-F238E27FC236}">
                <a16:creationId xmlns:a16="http://schemas.microsoft.com/office/drawing/2014/main" id="{F7618594-A7E3-4271-9579-60CB0B5D0DF1}"/>
              </a:ext>
            </a:extLst>
          </p:cNvPr>
          <p:cNvSpPr>
            <a:spLocks noGrp="1"/>
          </p:cNvSpPr>
          <p:nvPr/>
        </p:nvSpPr>
        <p:spPr>
          <a:xfrm>
            <a:off x="6105525" y="2590419"/>
            <a:ext cx="264765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7" name="THE TIMING">
            <a:extLst>
              <a:ext uri="{FF2B5EF4-FFF2-40B4-BE49-F238E27FC236}">
                <a16:creationId xmlns:a16="http://schemas.microsoft.com/office/drawing/2014/main" id="{2F17F885-CD40-4FE0-8F1D-513E6AD77534}"/>
              </a:ext>
            </a:extLst>
          </p:cNvPr>
          <p:cNvSpPr>
            <a:spLocks noGrp="1"/>
          </p:cNvSpPr>
          <p:nvPr/>
        </p:nvSpPr>
        <p:spPr>
          <a:xfrm>
            <a:off x="6105525" y="3313748"/>
            <a:ext cx="920688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THE TIMING</a:t>
            </a:r>
          </a:p>
        </p:txBody>
      </p:sp>
      <p:sp>
        <p:nvSpPr>
          <p:cNvPr id="28" name="When is the equipment">
            <a:extLst>
              <a:ext uri="{FF2B5EF4-FFF2-40B4-BE49-F238E27FC236}">
                <a16:creationId xmlns:a16="http://schemas.microsoft.com/office/drawing/2014/main" id="{DAAE88F6-7E21-48DB-B18E-587369EE77FC}"/>
              </a:ext>
            </a:extLst>
          </p:cNvPr>
          <p:cNvSpPr>
            <a:spLocks noGrp="1"/>
          </p:cNvSpPr>
          <p:nvPr/>
        </p:nvSpPr>
        <p:spPr>
          <a:xfrm>
            <a:off x="6105525" y="3638550"/>
            <a:ext cx="15049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When is the equipment needed, and for how long?</a:t>
            </a:r>
          </a:p>
        </p:txBody>
      </p:sp>
      <p:sp>
        <p:nvSpPr>
          <p:cNvPr id="29" name="needed, and for how long?">
            <a:extLst>
              <a:ext uri="{FF2B5EF4-FFF2-40B4-BE49-F238E27FC236}">
                <a16:creationId xmlns:a16="http://schemas.microsoft.com/office/drawing/2014/main" id="{3BF0EBF7-E51E-4333-9330-43956F0561BA}"/>
              </a:ext>
            </a:extLst>
          </p:cNvPr>
          <p:cNvSpPr>
            <a:spLocks noGrp="1"/>
          </p:cNvSpPr>
          <p:nvPr/>
        </p:nvSpPr>
        <p:spPr>
          <a:xfrm>
            <a:off x="6105525" y="3782949"/>
            <a:ext cx="16097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30" name="Design block 29">
            <a:extLst>
              <a:ext uri="{FF2B5EF4-FFF2-40B4-BE49-F238E27FC236}">
                <a16:creationId xmlns:a16="http://schemas.microsoft.com/office/drawing/2014/main" id="{AC31ED16-3F60-4E96-BBF7-515E8A656FAD}"/>
              </a:ext>
            </a:extLst>
          </p:cNvPr>
          <p:cNvSpPr>
            <a:spLocks noGrp="1"/>
          </p:cNvSpPr>
          <p:nvPr/>
        </p:nvSpPr>
        <p:spPr>
          <a:xfrm>
            <a:off x="304800" y="5219700"/>
            <a:ext cx="7410450" cy="19050"/>
          </a:xfrm>
          <a:prstGeom prst="rect">
            <a:avLst/>
          </a:prstGeom>
          <a:solidFill>
            <a:srgbClr val="454649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WASEEM CONSTRUCTION COMPANY">
            <a:extLst>
              <a:ext uri="{FF2B5EF4-FFF2-40B4-BE49-F238E27FC236}">
                <a16:creationId xmlns:a16="http://schemas.microsoft.com/office/drawing/2014/main" id="{5264C91B-8D64-45F8-8F15-6F2E02C9D80A}"/>
              </a:ext>
            </a:extLst>
          </p:cNvPr>
          <p:cNvSpPr>
            <a:spLocks noGrp="1"/>
          </p:cNvSpPr>
          <p:nvPr/>
        </p:nvSpPr>
        <p:spPr>
          <a:xfrm>
            <a:off x="304800" y="5357051"/>
            <a:ext cx="409575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32" name="Design block 31">
            <a:extLst>
              <a:ext uri="{FF2B5EF4-FFF2-40B4-BE49-F238E27FC236}">
                <a16:creationId xmlns:a16="http://schemas.microsoft.com/office/drawing/2014/main" id="{CDA6D468-76F1-42EB-B882-3AC06754B1A0}"/>
              </a:ext>
            </a:extLst>
          </p:cNvPr>
          <p:cNvSpPr>
            <a:spLocks noGrp="1"/>
          </p:cNvSpPr>
          <p:nvPr/>
        </p:nvSpPr>
        <p:spPr>
          <a:xfrm>
            <a:off x="7400925" y="5276850"/>
            <a:ext cx="314325" cy="2095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14">
            <a:extLst>
              <a:ext uri="{FF2B5EF4-FFF2-40B4-BE49-F238E27FC236}">
                <a16:creationId xmlns:a16="http://schemas.microsoft.com/office/drawing/2014/main" id="{68DF350B-5BB8-4746-B5B2-6A215F56C258}"/>
              </a:ext>
            </a:extLst>
          </p:cNvPr>
          <p:cNvSpPr>
            <a:spLocks noGrp="1"/>
          </p:cNvSpPr>
          <p:nvPr/>
        </p:nvSpPr>
        <p:spPr>
          <a:xfrm>
            <a:off x="7496175" y="5348097"/>
            <a:ext cx="219075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722752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esign block 0">
            <a:extLst>
              <a:ext uri="{FF2B5EF4-FFF2-40B4-BE49-F238E27FC236}">
                <a16:creationId xmlns:a16="http://schemas.microsoft.com/office/drawing/2014/main" id="{ED59FF38-02CF-43D8-8448-E94682F370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20050" cy="5667375"/>
          </a:xfrm>
          <a:prstGeom prst="rect">
            <a:avLst/>
          </a:prstGeom>
          <a:solidFill>
            <a:srgbClr val="191A1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5BB40EB-37A7-4DF9-BB67-FBEF93EE9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68" y="-27708"/>
            <a:ext cx="3171457" cy="5667375"/>
          </a:xfrm>
          <a:prstGeom prst="rect">
            <a:avLst/>
          </a:prstGeom>
        </p:spPr>
      </p:pic>
      <p:sp>
        <p:nvSpPr>
          <p:cNvPr id="3" name="Editable diagonal panel">
            <a:extLst>
              <a:ext uri="{FF2B5EF4-FFF2-40B4-BE49-F238E27FC236}">
                <a16:creationId xmlns:a16="http://schemas.microsoft.com/office/drawing/2014/main" id="{16A384A2-2475-4F68-ACB8-DF1F2085B432}"/>
              </a:ext>
            </a:extLst>
          </p:cNvPr>
          <p:cNvSpPr>
            <a:spLocks noGrp="1"/>
          </p:cNvSpPr>
          <p:nvPr/>
        </p:nvSpPr>
        <p:spPr>
          <a:xfrm>
            <a:off x="3171825" y="0"/>
            <a:ext cx="733425" cy="1571625"/>
          </a:xfrm>
          <a:custGeom>
            <a:avLst/>
            <a:gdLst/>
            <a:ahLst/>
            <a:cxnLst/>
            <a:rect l="0" t="0" r="0" b="0"/>
            <a:pathLst>
              <a:path w="428625" h="1571625">
                <a:moveTo>
                  <a:pt x="0" y="0"/>
                </a:moveTo>
                <a:lnTo>
                  <a:pt x="428625" y="0"/>
                </a:lnTo>
                <a:lnTo>
                  <a:pt x="0" y="1571625"/>
                </a:lnTo>
                <a:close/>
              </a:path>
            </a:pathLst>
          </a:cu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WASEEM CONSTRUCTION COMPANY">
            <a:extLst>
              <a:ext uri="{FF2B5EF4-FFF2-40B4-BE49-F238E27FC236}">
                <a16:creationId xmlns:a16="http://schemas.microsoft.com/office/drawing/2014/main" id="{27127B16-9B50-44DA-B7BE-C2B67D6DE256}"/>
              </a:ext>
            </a:extLst>
          </p:cNvPr>
          <p:cNvSpPr>
            <a:spLocks noGrp="1"/>
          </p:cNvSpPr>
          <p:nvPr/>
        </p:nvSpPr>
        <p:spPr>
          <a:xfrm>
            <a:off x="3905250" y="356426"/>
            <a:ext cx="3810000" cy="1512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8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8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825" b="1" dirty="0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5" name="LET'S PLAN">
            <a:extLst>
              <a:ext uri="{FF2B5EF4-FFF2-40B4-BE49-F238E27FC236}">
                <a16:creationId xmlns:a16="http://schemas.microsoft.com/office/drawing/2014/main" id="{23FD0A4F-D150-40FF-ACA1-F27123DC23FD}"/>
              </a:ext>
            </a:extLst>
          </p:cNvPr>
          <p:cNvSpPr>
            <a:spLocks noGrp="1"/>
          </p:cNvSpPr>
          <p:nvPr/>
        </p:nvSpPr>
        <p:spPr>
          <a:xfrm>
            <a:off x="3762375" y="829628"/>
            <a:ext cx="2026644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LET'S PLAN</a:t>
            </a:r>
          </a:p>
        </p:txBody>
      </p:sp>
      <p:sp>
        <p:nvSpPr>
          <p:cNvPr id="6" name="THE NEXT MOVE.">
            <a:extLst>
              <a:ext uri="{FF2B5EF4-FFF2-40B4-BE49-F238E27FC236}">
                <a16:creationId xmlns:a16="http://schemas.microsoft.com/office/drawing/2014/main" id="{95FD5612-EF2B-4061-B496-B74B8DC940DE}"/>
              </a:ext>
            </a:extLst>
          </p:cNvPr>
          <p:cNvSpPr>
            <a:spLocks noGrp="1"/>
          </p:cNvSpPr>
          <p:nvPr/>
        </p:nvSpPr>
        <p:spPr>
          <a:xfrm>
            <a:off x="3762375" y="1239203"/>
            <a:ext cx="2910706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THE NEXT MOVE.</a:t>
            </a:r>
          </a:p>
        </p:txBody>
      </p:sp>
      <p:sp>
        <p:nvSpPr>
          <p:cNvPr id="7" name="Send your requirements to our team.">
            <a:extLst>
              <a:ext uri="{FF2B5EF4-FFF2-40B4-BE49-F238E27FC236}">
                <a16:creationId xmlns:a16="http://schemas.microsoft.com/office/drawing/2014/main" id="{9E6821AB-3084-45B9-82DB-FADBF7444754}"/>
              </a:ext>
            </a:extLst>
          </p:cNvPr>
          <p:cNvSpPr>
            <a:spLocks noGrp="1"/>
          </p:cNvSpPr>
          <p:nvPr/>
        </p:nvSpPr>
        <p:spPr>
          <a:xfrm>
            <a:off x="3781425" y="1809750"/>
            <a:ext cx="393382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Send your requirements to our team</a:t>
            </a:r>
          </a:p>
        </p:txBody>
      </p:sp>
      <p:sp>
        <p:nvSpPr>
          <p:cNvPr id="8" name="Design block 7">
            <a:extLst>
              <a:ext uri="{FF2B5EF4-FFF2-40B4-BE49-F238E27FC236}">
                <a16:creationId xmlns:a16="http://schemas.microsoft.com/office/drawing/2014/main" id="{DF1685F5-18B5-48A4-B82D-16C3B90495FB}"/>
              </a:ext>
            </a:extLst>
          </p:cNvPr>
          <p:cNvSpPr>
            <a:spLocks noGrp="1"/>
          </p:cNvSpPr>
          <p:nvPr/>
        </p:nvSpPr>
        <p:spPr>
          <a:xfrm>
            <a:off x="3781425" y="2171700"/>
            <a:ext cx="457200" cy="190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GENERAL ENQUIRIES">
            <a:extLst>
              <a:ext uri="{FF2B5EF4-FFF2-40B4-BE49-F238E27FC236}">
                <a16:creationId xmlns:a16="http://schemas.microsoft.com/office/drawing/2014/main" id="{FB85AC75-EB65-40FA-9935-15405C1B46DA}"/>
              </a:ext>
            </a:extLst>
          </p:cNvPr>
          <p:cNvSpPr>
            <a:spLocks noGrp="1"/>
          </p:cNvSpPr>
          <p:nvPr/>
        </p:nvSpPr>
        <p:spPr>
          <a:xfrm>
            <a:off x="3781425" y="2462022"/>
            <a:ext cx="167941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GENERAL ENQUIRIES</a:t>
            </a:r>
          </a:p>
        </p:txBody>
      </p:sp>
      <p:sp>
        <p:nvSpPr>
          <p:cNvPr id="10" name="Wasim@wasconarabia.com">
            <a:extLst>
              <a:ext uri="{FF2B5EF4-FFF2-40B4-BE49-F238E27FC236}">
                <a16:creationId xmlns:a16="http://schemas.microsoft.com/office/drawing/2014/main" id="{2084082F-C70D-4ED8-9B0B-7D985DAD5CF3}"/>
              </a:ext>
            </a:extLst>
          </p:cNvPr>
          <p:cNvSpPr>
            <a:spLocks noGrp="1"/>
          </p:cNvSpPr>
          <p:nvPr/>
        </p:nvSpPr>
        <p:spPr>
          <a:xfrm>
            <a:off x="3781425" y="2649855"/>
            <a:ext cx="39338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8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7F7F3"/>
                </a:solidFill>
                <a:latin typeface="Arial"/>
                <a:ea typeface="Arial"/>
                <a:cs typeface="Arial"/>
                <a:hlinkClick r:id="rId4"/>
              </a:rPr>
              <a:t>Wasim@wasconarabia.com</a:t>
            </a:r>
          </a:p>
        </p:txBody>
      </p:sp>
      <p:sp>
        <p:nvSpPr>
          <p:cNvPr id="11" name="SALES ENQUIRIES">
            <a:extLst>
              <a:ext uri="{FF2B5EF4-FFF2-40B4-BE49-F238E27FC236}">
                <a16:creationId xmlns:a16="http://schemas.microsoft.com/office/drawing/2014/main" id="{72B303F2-F771-4674-9ACB-8A7890050683}"/>
              </a:ext>
            </a:extLst>
          </p:cNvPr>
          <p:cNvSpPr>
            <a:spLocks noGrp="1"/>
          </p:cNvSpPr>
          <p:nvPr/>
        </p:nvSpPr>
        <p:spPr>
          <a:xfrm>
            <a:off x="3781425" y="3204972"/>
            <a:ext cx="1465516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SALES ENQUIRIES</a:t>
            </a:r>
          </a:p>
        </p:txBody>
      </p:sp>
      <p:sp>
        <p:nvSpPr>
          <p:cNvPr id="12" name="Sales@wasconarabia.com">
            <a:extLst>
              <a:ext uri="{FF2B5EF4-FFF2-40B4-BE49-F238E27FC236}">
                <a16:creationId xmlns:a16="http://schemas.microsoft.com/office/drawing/2014/main" id="{C593DE23-3851-4C5F-8825-0E591879D92A}"/>
              </a:ext>
            </a:extLst>
          </p:cNvPr>
          <p:cNvSpPr>
            <a:spLocks noGrp="1"/>
          </p:cNvSpPr>
          <p:nvPr/>
        </p:nvSpPr>
        <p:spPr>
          <a:xfrm>
            <a:off x="3781425" y="3392805"/>
            <a:ext cx="39338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8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7F7F3"/>
                </a:solidFill>
                <a:latin typeface="Arial"/>
                <a:ea typeface="Arial"/>
                <a:cs typeface="Arial"/>
                <a:hlinkClick r:id="rId5"/>
              </a:rPr>
              <a:t>Sales@wasconarabia.com</a:t>
            </a:r>
          </a:p>
        </p:txBody>
      </p:sp>
      <p:sp>
        <p:nvSpPr>
          <p:cNvPr id="13" name="Design block 12">
            <a:extLst>
              <a:ext uri="{FF2B5EF4-FFF2-40B4-BE49-F238E27FC236}">
                <a16:creationId xmlns:a16="http://schemas.microsoft.com/office/drawing/2014/main" id="{1FD94FC9-B5D9-4743-9B41-19048E5B249C}"/>
              </a:ext>
            </a:extLst>
          </p:cNvPr>
          <p:cNvSpPr>
            <a:spLocks noGrp="1"/>
          </p:cNvSpPr>
          <p:nvPr/>
        </p:nvSpPr>
        <p:spPr>
          <a:xfrm>
            <a:off x="3781425" y="4067175"/>
            <a:ext cx="3933825" cy="9525"/>
          </a:xfrm>
          <a:prstGeom prst="rect">
            <a:avLst/>
          </a:prstGeom>
          <a:solidFill>
            <a:srgbClr val="4B4B4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Telephone">
            <a:extLst>
              <a:ext uri="{FF2B5EF4-FFF2-40B4-BE49-F238E27FC236}">
                <a16:creationId xmlns:a16="http://schemas.microsoft.com/office/drawing/2014/main" id="{3C78C6B6-2DC9-42DF-B051-B42B48F0A231}"/>
              </a:ext>
            </a:extLst>
          </p:cNvPr>
          <p:cNvSpPr>
            <a:spLocks noGrp="1"/>
          </p:cNvSpPr>
          <p:nvPr/>
        </p:nvSpPr>
        <p:spPr>
          <a:xfrm>
            <a:off x="3781425" y="4281297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Telephone</a:t>
            </a:r>
          </a:p>
        </p:txBody>
      </p:sp>
      <p:sp>
        <p:nvSpPr>
          <p:cNvPr id="15" name="Design block 14">
            <a:extLst>
              <a:ext uri="{FF2B5EF4-FFF2-40B4-BE49-F238E27FC236}">
                <a16:creationId xmlns:a16="http://schemas.microsoft.com/office/drawing/2014/main" id="{C593575B-83B9-4F69-BBE3-E2DD6039AF17}"/>
              </a:ext>
            </a:extLst>
          </p:cNvPr>
          <p:cNvSpPr>
            <a:spLocks noGrp="1"/>
          </p:cNvSpPr>
          <p:nvPr/>
        </p:nvSpPr>
        <p:spPr>
          <a:xfrm>
            <a:off x="4648200" y="4367213"/>
            <a:ext cx="3067050" cy="4763"/>
          </a:xfrm>
          <a:prstGeom prst="rect">
            <a:avLst/>
          </a:prstGeom>
          <a:solidFill>
            <a:srgbClr val="777779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Office address">
            <a:extLst>
              <a:ext uri="{FF2B5EF4-FFF2-40B4-BE49-F238E27FC236}">
                <a16:creationId xmlns:a16="http://schemas.microsoft.com/office/drawing/2014/main" id="{935138D6-93AD-4F10-899B-F6EC879FF7F6}"/>
              </a:ext>
            </a:extLst>
          </p:cNvPr>
          <p:cNvSpPr>
            <a:spLocks noGrp="1"/>
          </p:cNvSpPr>
          <p:nvPr/>
        </p:nvSpPr>
        <p:spPr>
          <a:xfrm>
            <a:off x="3781425" y="4557522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Office address</a:t>
            </a:r>
          </a:p>
        </p:txBody>
      </p:sp>
      <p:sp>
        <p:nvSpPr>
          <p:cNvPr id="17" name="Design block 16">
            <a:extLst>
              <a:ext uri="{FF2B5EF4-FFF2-40B4-BE49-F238E27FC236}">
                <a16:creationId xmlns:a16="http://schemas.microsoft.com/office/drawing/2014/main" id="{B67889BE-BE5B-476B-A573-C1B1605B424A}"/>
              </a:ext>
            </a:extLst>
          </p:cNvPr>
          <p:cNvSpPr>
            <a:spLocks noGrp="1"/>
          </p:cNvSpPr>
          <p:nvPr/>
        </p:nvSpPr>
        <p:spPr>
          <a:xfrm>
            <a:off x="4648200" y="4643438"/>
            <a:ext cx="3067050" cy="4763"/>
          </a:xfrm>
          <a:prstGeom prst="rect">
            <a:avLst/>
          </a:prstGeom>
          <a:solidFill>
            <a:srgbClr val="777779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Registration no.">
            <a:extLst>
              <a:ext uri="{FF2B5EF4-FFF2-40B4-BE49-F238E27FC236}">
                <a16:creationId xmlns:a16="http://schemas.microsoft.com/office/drawing/2014/main" id="{AF13A310-788C-401C-8928-F01CA773A3A8}"/>
              </a:ext>
            </a:extLst>
          </p:cNvPr>
          <p:cNvSpPr>
            <a:spLocks noGrp="1"/>
          </p:cNvSpPr>
          <p:nvPr/>
        </p:nvSpPr>
        <p:spPr>
          <a:xfrm>
            <a:off x="3781425" y="4833747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Registration no.</a:t>
            </a:r>
          </a:p>
        </p:txBody>
      </p:sp>
      <p:sp>
        <p:nvSpPr>
          <p:cNvPr id="19" name="Design block 18">
            <a:extLst>
              <a:ext uri="{FF2B5EF4-FFF2-40B4-BE49-F238E27FC236}">
                <a16:creationId xmlns:a16="http://schemas.microsoft.com/office/drawing/2014/main" id="{AAF746B0-75DD-4502-816E-81F80D636F94}"/>
              </a:ext>
            </a:extLst>
          </p:cNvPr>
          <p:cNvSpPr>
            <a:spLocks noGrp="1"/>
          </p:cNvSpPr>
          <p:nvPr/>
        </p:nvSpPr>
        <p:spPr>
          <a:xfrm>
            <a:off x="4648200" y="4919663"/>
            <a:ext cx="3067050" cy="4763"/>
          </a:xfrm>
          <a:prstGeom prst="rect">
            <a:avLst/>
          </a:prstGeom>
          <a:solidFill>
            <a:srgbClr val="777779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Design block 19">
            <a:extLst>
              <a:ext uri="{FF2B5EF4-FFF2-40B4-BE49-F238E27FC236}">
                <a16:creationId xmlns:a16="http://schemas.microsoft.com/office/drawing/2014/main" id="{35BF3C7A-9F0E-43EC-9025-8848E40212AE}"/>
              </a:ext>
            </a:extLst>
          </p:cNvPr>
          <p:cNvSpPr>
            <a:spLocks noGrp="1"/>
          </p:cNvSpPr>
          <p:nvPr/>
        </p:nvSpPr>
        <p:spPr>
          <a:xfrm>
            <a:off x="7400925" y="5276850"/>
            <a:ext cx="314325" cy="2095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15">
            <a:extLst>
              <a:ext uri="{FF2B5EF4-FFF2-40B4-BE49-F238E27FC236}">
                <a16:creationId xmlns:a16="http://schemas.microsoft.com/office/drawing/2014/main" id="{64CF547D-5D0E-41A1-9ACB-3A6C317F04FB}"/>
              </a:ext>
            </a:extLst>
          </p:cNvPr>
          <p:cNvSpPr>
            <a:spLocks noGrp="1"/>
          </p:cNvSpPr>
          <p:nvPr/>
        </p:nvSpPr>
        <p:spPr>
          <a:xfrm>
            <a:off x="7496175" y="5348097"/>
            <a:ext cx="219075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9666093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677</Words>
  <Application>Microsoft Office PowerPoint</Application>
  <DocSecurity>0</DocSecurity>
  <PresentationFormat>Custom</PresentationFormat>
  <Paragraphs>187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Alishba Talat</cp:lastModifiedBy>
  <cp:revision>2</cp:revision>
  <dcterms:created xsi:type="dcterms:W3CDTF">2026-10-25T11:57:01Z</dcterms:created>
  <dcterms:modified xsi:type="dcterms:W3CDTF">2026-10-25T12:34:38Z</dcterms:modified>
</cp:coreProperties>
</file>